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73" r:id="rId3"/>
    <p:sldId id="274"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5" r:id="rId18"/>
    <p:sldId id="272"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10"/>
  </p:normalViewPr>
  <p:slideViewPr>
    <p:cSldViewPr snapToGrid="0" snapToObjects="1">
      <p:cViewPr varScale="1">
        <p:scale>
          <a:sx n="74" d="100"/>
          <a:sy n="74" d="100"/>
        </p:scale>
        <p:origin x="106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3" Type="http://schemas.openxmlformats.org/officeDocument/2006/relationships/slide" Target="slides/slide2.xml" /><Relationship Id="rId21" Type="http://schemas.openxmlformats.org/officeDocument/2006/relationships/presProps" Target="presProp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notesMaster" Target="notesMasters/notesMaster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tableStyles" Target="tableStyle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theme" Target="theme/theme1.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viewProps" Target="view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13813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0233E-90C6-4FC3-116A-E67C1FE1D4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37D725-3FB4-76EB-7CF1-23480030F2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2C65D5-55EF-D2EA-8DE9-156EB2FB8E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675A549-001A-1AEE-12C3-499D021556E4}"/>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9724323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6DDD1-31A0-A9DF-65EF-6D320E09C2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183CC6-0A20-7161-200F-D4C7B1EFE0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21CD1E-A4D4-BF4F-61AD-6934634E479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8C10F6-5197-3541-07C0-8CB826370A99}"/>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8123423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6A700-FB28-03AD-9E95-1623AEF82C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095150-95A5-07E7-D33D-B09DA3E01D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7D5FD4-5970-3DE0-7C98-5624B01011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C03AAF-D6EE-6FF5-2BFA-65D02416CCF8}"/>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910678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 /><Relationship Id="rId1" Type="http://schemas.openxmlformats.org/officeDocument/2006/relationships/slideLayout" Target="../slideLayouts/slideLayout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6.xml"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7.xml"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notesSlide" Target="../notesSlides/notesSlide8.xml"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Relationship Id="rId3" Type="http://schemas.openxmlformats.org/officeDocument/2006/relationships/image" Target="../media/image4.jpeg" /><Relationship Id="rId2" Type="http://schemas.openxmlformats.org/officeDocument/2006/relationships/notesSlide" Target="../notesSlides/notesSlide9.xml"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Relationship Id="rId3" Type="http://schemas.openxmlformats.org/officeDocument/2006/relationships/image" Target="../media/image5.jpeg" /><Relationship Id="rId2" Type="http://schemas.openxmlformats.org/officeDocument/2006/relationships/notesSlide" Target="../notesSlides/notesSlide10.xml"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Relationship Id="rId3" Type="http://schemas.openxmlformats.org/officeDocument/2006/relationships/image" Target="../media/image6.jpeg" /><Relationship Id="rId2" Type="http://schemas.openxmlformats.org/officeDocument/2006/relationships/notesSlide" Target="../notesSlides/notesSlide12.xml"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Relationship Id="rId3" Type="http://schemas.openxmlformats.org/officeDocument/2006/relationships/image" Target="../media/image7.jpeg" /><Relationship Id="rId2" Type="http://schemas.openxmlformats.org/officeDocument/2006/relationships/notesSlide" Target="../notesSlides/notesSlide13.xml" /><Relationship Id="rId1" Type="http://schemas.openxmlformats.org/officeDocument/2006/relationships/slideLayout" Target="../slideLayouts/slideLayout1.xml" /></Relationships>
</file>

<file path=ppt/slides/_rels/slide14.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notesSlide" Target="../notesSlides/notesSlide14.xml" /><Relationship Id="rId1" Type="http://schemas.openxmlformats.org/officeDocument/2006/relationships/slideLayout" Target="../slideLayouts/slideLayout1.xml" /></Relationships>
</file>

<file path=ppt/slides/_rels/slide15.xml.rels><?xml version="1.0" encoding="UTF-8" standalone="yes"?>
<Relationships xmlns="http://schemas.openxmlformats.org/package/2006/relationships"><Relationship Id="rId3" Type="http://schemas.openxmlformats.org/officeDocument/2006/relationships/image" Target="../media/image9.jpeg" /><Relationship Id="rId2" Type="http://schemas.openxmlformats.org/officeDocument/2006/relationships/notesSlide" Target="../notesSlides/notesSlide15.xml" /><Relationship Id="rId1" Type="http://schemas.openxmlformats.org/officeDocument/2006/relationships/slideLayout" Target="../slideLayouts/slideLayout1.xml" /></Relationships>
</file>

<file path=ppt/slides/_rels/slide16.xml.rels><?xml version="1.0" encoding="UTF-8" standalone="yes"?>
<Relationships xmlns="http://schemas.openxmlformats.org/package/2006/relationships"><Relationship Id="rId3" Type="http://schemas.openxmlformats.org/officeDocument/2006/relationships/image" Target="../media/image10.png" /><Relationship Id="rId2" Type="http://schemas.openxmlformats.org/officeDocument/2006/relationships/notesSlide" Target="../notesSlides/notesSlide16.xml" /><Relationship Id="rId1" Type="http://schemas.openxmlformats.org/officeDocument/2006/relationships/slideLayout" Target="../slideLayouts/slideLayout1.xml" /></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 /><Relationship Id="rId1" Type="http://schemas.openxmlformats.org/officeDocument/2006/relationships/slideLayout" Target="../slideLayouts/slideLayout1.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B45"/>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F7173"/>
          </a:solidFill>
          <a:ln w="12700">
            <a:solidFill>
              <a:srgbClr val="0F7173"/>
            </a:solidFill>
            <a:prstDash val="solid"/>
          </a:ln>
        </p:spPr>
        <p:txBody>
          <a:bodyPr/>
          <a:lstStyle/>
          <a:p>
            <a:endParaRPr lang="en-US"/>
          </a:p>
        </p:txBody>
      </p:sp>
      <p:sp>
        <p:nvSpPr>
          <p:cNvPr id="3" name="Text 1"/>
          <p:cNvSpPr/>
          <p:nvPr/>
        </p:nvSpPr>
        <p:spPr>
          <a:xfrm>
            <a:off x="457200" y="630936"/>
            <a:ext cx="8412480" cy="1645920"/>
          </a:xfrm>
          <a:prstGeom prst="rect">
            <a:avLst/>
          </a:prstGeom>
          <a:noFill/>
          <a:ln/>
        </p:spPr>
        <p:txBody>
          <a:bodyPr wrap="square" rtlCol="0" anchor="ctr"/>
          <a:lstStyle/>
          <a:p>
            <a:r>
              <a:rPr lang="en-US" sz="4000" dirty="0">
                <a:solidFill>
                  <a:schemeClr val="bg1"/>
                </a:solidFill>
              </a:rPr>
              <a:t>Transcriptome Analysis of Spinal Tuberculosis in humans</a:t>
            </a:r>
          </a:p>
        </p:txBody>
      </p:sp>
      <p:sp>
        <p:nvSpPr>
          <p:cNvPr id="4" name="Text 2"/>
          <p:cNvSpPr/>
          <p:nvPr/>
        </p:nvSpPr>
        <p:spPr>
          <a:xfrm>
            <a:off x="365760" y="2606040"/>
            <a:ext cx="8412480" cy="365760"/>
          </a:xfrm>
          <a:prstGeom prst="rect">
            <a:avLst/>
          </a:prstGeom>
          <a:noFill/>
          <a:ln/>
        </p:spPr>
        <p:txBody>
          <a:bodyPr wrap="square" rtlCol="0" anchor="ctr"/>
          <a:lstStyle/>
          <a:p>
            <a:pPr marL="0" indent="0">
              <a:buNone/>
            </a:pPr>
            <a:r>
              <a:rPr lang="en-US" sz="1400" i="1" dirty="0">
                <a:solidFill>
                  <a:srgbClr val="A0C4D8"/>
                </a:solidFill>
                <a:latin typeface="Calibri" pitchFamily="34" charset="0"/>
                <a:ea typeface="Calibri" pitchFamily="34" charset="-122"/>
                <a:cs typeface="Calibri" pitchFamily="34" charset="-120"/>
              </a:rPr>
              <a:t>GSE268366 · RNA-seq · Spinal TB vs Lumbar Disc Degeneration</a:t>
            </a:r>
            <a:endParaRPr lang="en-US" sz="1400" dirty="0"/>
          </a:p>
        </p:txBody>
      </p:sp>
      <p:sp>
        <p:nvSpPr>
          <p:cNvPr id="5" name="Shape 3"/>
          <p:cNvSpPr/>
          <p:nvPr/>
        </p:nvSpPr>
        <p:spPr>
          <a:xfrm>
            <a:off x="365760" y="3063240"/>
            <a:ext cx="8412480" cy="1645920"/>
          </a:xfrm>
          <a:prstGeom prst="rect">
            <a:avLst/>
          </a:prstGeom>
          <a:solidFill>
            <a:srgbClr val="112233">
              <a:alpha val="70000"/>
            </a:srgbClr>
          </a:solidFill>
          <a:ln w="12700">
            <a:solidFill>
              <a:srgbClr val="0F7173"/>
            </a:solidFill>
            <a:prstDash val="solid"/>
          </a:ln>
        </p:spPr>
        <p:txBody>
          <a:bodyPr/>
          <a:lstStyle/>
          <a:p>
            <a:endParaRPr lang="en-US"/>
          </a:p>
        </p:txBody>
      </p:sp>
      <p:sp>
        <p:nvSpPr>
          <p:cNvPr id="6" name="Text 4"/>
          <p:cNvSpPr/>
          <p:nvPr/>
        </p:nvSpPr>
        <p:spPr>
          <a:xfrm>
            <a:off x="548640" y="3154680"/>
            <a:ext cx="8229600" cy="274320"/>
          </a:xfrm>
          <a:prstGeom prst="rect">
            <a:avLst/>
          </a:prstGeom>
          <a:noFill/>
          <a:ln/>
        </p:spPr>
        <p:txBody>
          <a:bodyPr wrap="square" rtlCol="0" anchor="ctr"/>
          <a:lstStyle/>
          <a:p>
            <a:pPr marL="0" indent="0">
              <a:buNone/>
            </a:pPr>
            <a:r>
              <a:rPr lang="en-US" sz="1300" b="1" dirty="0">
                <a:solidFill>
                  <a:srgbClr val="0F7173"/>
                </a:solidFill>
                <a:latin typeface="Calibri" pitchFamily="34" charset="0"/>
                <a:ea typeface="Calibri" pitchFamily="34" charset="-122"/>
                <a:cs typeface="Calibri" pitchFamily="34" charset="-120"/>
              </a:rPr>
              <a:t>Team G17</a:t>
            </a:r>
            <a:endParaRPr lang="en-US" sz="1300" dirty="0"/>
          </a:p>
        </p:txBody>
      </p:sp>
      <p:sp>
        <p:nvSpPr>
          <p:cNvPr id="7" name="Text 5"/>
          <p:cNvSpPr/>
          <p:nvPr/>
        </p:nvSpPr>
        <p:spPr>
          <a:xfrm>
            <a:off x="548640" y="3456432"/>
            <a:ext cx="8229600" cy="457200"/>
          </a:xfrm>
          <a:prstGeom prst="rect">
            <a:avLst/>
          </a:prstGeom>
          <a:noFill/>
          <a:ln/>
        </p:spPr>
        <p:txBody>
          <a:bodyPr wrap="square" rtlCol="0" anchor="ctr"/>
          <a:lstStyle/>
          <a:p>
            <a:pPr marL="0" indent="0">
              <a:buNone/>
            </a:pPr>
            <a:r>
              <a:rPr lang="en-US" sz="1100" dirty="0">
                <a:solidFill>
                  <a:srgbClr val="C0D8E8"/>
                </a:solidFill>
                <a:latin typeface="Calibri" pitchFamily="34" charset="0"/>
                <a:ea typeface="Calibri" pitchFamily="34" charset="-122"/>
                <a:cs typeface="Calibri" pitchFamily="34" charset="-120"/>
              </a:rPr>
              <a:t>Amira Momtaz · 231001071     Inji Hatem Amin · 231000596     Habiba Essam Magdy · 231001460     Sara Ahmed · 231001837     Menna Khaled · 221000165     Tasabih Farid · 231001581</a:t>
            </a:r>
            <a:endParaRPr lang="en-US" sz="1100" dirty="0"/>
          </a:p>
        </p:txBody>
      </p:sp>
      <p:sp>
        <p:nvSpPr>
          <p:cNvPr id="8" name="Text 6"/>
          <p:cNvSpPr/>
          <p:nvPr/>
        </p:nvSpPr>
        <p:spPr>
          <a:xfrm>
            <a:off x="548640" y="4023360"/>
            <a:ext cx="8229600" cy="320040"/>
          </a:xfrm>
          <a:prstGeom prst="rect">
            <a:avLst/>
          </a:prstGeom>
          <a:noFill/>
          <a:ln/>
        </p:spPr>
        <p:txBody>
          <a:bodyPr wrap="square" rtlCol="0" anchor="ctr"/>
          <a:lstStyle/>
          <a:p>
            <a:pPr marL="0" indent="0">
              <a:buNone/>
            </a:pPr>
            <a:r>
              <a:rPr lang="en-US" sz="1100" i="1" dirty="0">
                <a:solidFill>
                  <a:srgbClr val="8BAFC8"/>
                </a:solidFill>
                <a:latin typeface="Calibri" pitchFamily="34" charset="0"/>
                <a:ea typeface="Calibri" pitchFamily="34" charset="-122"/>
                <a:cs typeface="Calibri" pitchFamily="34" charset="-120"/>
              </a:rPr>
              <a:t>Supervised by TA: Dr. Shaimaa Roshdy Abdullah</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8F9"/>
        </a:solidFill>
        <a:effectLst/>
      </p:bgPr>
    </p:bg>
    <p:spTree>
      <p:nvGrpSpPr>
        <p:cNvPr id="1" name="">
          <a:extLst>
            <a:ext uri="{FF2B5EF4-FFF2-40B4-BE49-F238E27FC236}">
              <a16:creationId xmlns:a16="http://schemas.microsoft.com/office/drawing/2014/main" id="{DB70FADA-C3AB-FCC6-C5CD-1A663FF5503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A116E0A-D4E1-3481-07A3-BE6A015390F5}"/>
              </a:ext>
            </a:extLst>
          </p:cNvPr>
          <p:cNvSpPr/>
          <p:nvPr/>
        </p:nvSpPr>
        <p:spPr>
          <a:xfrm>
            <a:off x="502920" y="182880"/>
            <a:ext cx="8412480" cy="502920"/>
          </a:xfrm>
          <a:prstGeom prst="rect">
            <a:avLst/>
          </a:prstGeom>
          <a:noFill/>
          <a:ln/>
        </p:spPr>
        <p:txBody>
          <a:bodyPr wrap="square" lIns="0" tIns="0" rIns="0" bIns="0" rtlCol="0" anchor="ctr"/>
          <a:lstStyle/>
          <a:p>
            <a:pPr marL="0" indent="0">
              <a:buNone/>
            </a:pPr>
            <a:r>
              <a:rPr lang="en-US" sz="4000" b="1" dirty="0">
                <a:solidFill>
                  <a:srgbClr val="0D2B45"/>
                </a:solidFill>
                <a:latin typeface="Times New Roman" panose="02020603050405020304" pitchFamily="18" charset="0"/>
                <a:cs typeface="Times New Roman" panose="02020603050405020304" pitchFamily="18" charset="0"/>
              </a:rPr>
              <a:t>Introduction</a:t>
            </a:r>
            <a:endParaRPr lang="en-US" sz="4000" dirty="0">
              <a:latin typeface="Times New Roman" panose="02020603050405020304" pitchFamily="18" charset="0"/>
              <a:cs typeface="Times New Roman" panose="02020603050405020304" pitchFamily="18" charset="0"/>
            </a:endParaRPr>
          </a:p>
        </p:txBody>
      </p:sp>
      <p:sp>
        <p:nvSpPr>
          <p:cNvPr id="3" name="Shape 1">
            <a:extLst>
              <a:ext uri="{FF2B5EF4-FFF2-40B4-BE49-F238E27FC236}">
                <a16:creationId xmlns:a16="http://schemas.microsoft.com/office/drawing/2014/main" id="{DB31778E-446C-CFF4-AEFD-6E4695EDE8F1}"/>
              </a:ext>
            </a:extLst>
          </p:cNvPr>
          <p:cNvSpPr/>
          <p:nvPr/>
        </p:nvSpPr>
        <p:spPr>
          <a:xfrm>
            <a:off x="365760" y="932688"/>
            <a:ext cx="8412480" cy="27432"/>
          </a:xfrm>
          <a:prstGeom prst="rect">
            <a:avLst/>
          </a:prstGeom>
          <a:solidFill>
            <a:srgbClr val="0F7173"/>
          </a:solidFill>
          <a:ln w="12700">
            <a:solidFill>
              <a:srgbClr val="0F7173"/>
            </a:solidFill>
            <a:prstDash val="solid"/>
          </a:ln>
        </p:spPr>
        <p:txBody>
          <a:bodyPr/>
          <a:lstStyle/>
          <a:p>
            <a:endParaRPr lang="en-US"/>
          </a:p>
        </p:txBody>
      </p:sp>
      <p:sp>
        <p:nvSpPr>
          <p:cNvPr id="4" name="Shape 2">
            <a:extLst>
              <a:ext uri="{FF2B5EF4-FFF2-40B4-BE49-F238E27FC236}">
                <a16:creationId xmlns:a16="http://schemas.microsoft.com/office/drawing/2014/main" id="{6B940DA6-42BE-AD47-FCC5-DE2B9E7F6FE3}"/>
              </a:ext>
            </a:extLst>
          </p:cNvPr>
          <p:cNvSpPr/>
          <p:nvPr/>
        </p:nvSpPr>
        <p:spPr>
          <a:xfrm>
            <a:off x="1492025" y="1122124"/>
            <a:ext cx="5870448" cy="3474720"/>
          </a:xfrm>
          <a:prstGeom prst="rect">
            <a:avLst/>
          </a:prstGeom>
          <a:solidFill>
            <a:srgbClr val="FFFFFF"/>
          </a:solidFill>
          <a:ln w="12700">
            <a:solidFill>
              <a:srgbClr val="FFFFFF">
                <a:alpha val="0"/>
              </a:srgbClr>
            </a:solidFill>
            <a:prstDash val="solid"/>
          </a:ln>
          <a:effectLst>
            <a:outerShdw blurRad="63500" dist="25400" dir="8100000" algn="bl" rotWithShape="0">
              <a:srgbClr val="000000">
                <a:alpha val="8000"/>
              </a:srgbClr>
            </a:outerShdw>
          </a:effectLst>
        </p:spPr>
        <p:txBody>
          <a:bodyPr/>
          <a:lstStyle/>
          <a:p>
            <a:endParaRPr lang="en-US"/>
          </a:p>
        </p:txBody>
      </p:sp>
      <p:sp>
        <p:nvSpPr>
          <p:cNvPr id="6" name="Text 4">
            <a:extLst>
              <a:ext uri="{FF2B5EF4-FFF2-40B4-BE49-F238E27FC236}">
                <a16:creationId xmlns:a16="http://schemas.microsoft.com/office/drawing/2014/main" id="{F76593CE-ABFB-A9D5-4B36-0D10AEB41267}"/>
              </a:ext>
            </a:extLst>
          </p:cNvPr>
          <p:cNvSpPr/>
          <p:nvPr/>
        </p:nvSpPr>
        <p:spPr>
          <a:xfrm>
            <a:off x="438912" y="1078992"/>
            <a:ext cx="2651760" cy="320040"/>
          </a:xfrm>
          <a:prstGeom prst="rect">
            <a:avLst/>
          </a:prstGeom>
          <a:noFill/>
          <a:ln/>
        </p:spPr>
        <p:txBody>
          <a:bodyPr wrap="square" lIns="0" tIns="0" rIns="0" bIns="0" rtlCol="0" anchor="ctr"/>
          <a:lstStyle/>
          <a:p>
            <a:pPr marL="0" indent="0">
              <a:buNone/>
            </a:pPr>
            <a:endParaRPr lang="en-US" sz="1300" dirty="0"/>
          </a:p>
        </p:txBody>
      </p:sp>
      <p:sp>
        <p:nvSpPr>
          <p:cNvPr id="7" name="Text 5">
            <a:extLst>
              <a:ext uri="{FF2B5EF4-FFF2-40B4-BE49-F238E27FC236}">
                <a16:creationId xmlns:a16="http://schemas.microsoft.com/office/drawing/2014/main" id="{030DF54B-6E60-3084-01BD-87020620103D}"/>
              </a:ext>
            </a:extLst>
          </p:cNvPr>
          <p:cNvSpPr/>
          <p:nvPr/>
        </p:nvSpPr>
        <p:spPr>
          <a:xfrm>
            <a:off x="1546889" y="1618488"/>
            <a:ext cx="5760720" cy="2743200"/>
          </a:xfrm>
          <a:prstGeom prst="rect">
            <a:avLst/>
          </a:prstGeom>
          <a:noFill/>
          <a:ln/>
        </p:spPr>
        <p:txBody>
          <a:bodyPr wrap="square" rtlCol="0" anchor="t"/>
          <a:lstStyle/>
          <a:p>
            <a:r>
              <a:rPr lang="en-US" sz="2400" dirty="0">
                <a:latin typeface="Times New Roman" panose="02020603050405020304" pitchFamily="18" charset="0"/>
                <a:cs typeface="Times New Roman" panose="02020603050405020304" pitchFamily="18" charset="0"/>
              </a:rPr>
              <a:t>Tuberculosis is a highly infectious disease caused by Mycobacterium tuberculosis and is one of the top ten causes of death worldwide. Tuberculosis is most prevalent in developing countries and is generally treatable if detected early. </a:t>
            </a:r>
          </a:p>
        </p:txBody>
      </p:sp>
      <p:sp>
        <p:nvSpPr>
          <p:cNvPr id="10" name="Text 8">
            <a:extLst>
              <a:ext uri="{FF2B5EF4-FFF2-40B4-BE49-F238E27FC236}">
                <a16:creationId xmlns:a16="http://schemas.microsoft.com/office/drawing/2014/main" id="{37E6A72F-E4B0-1E27-ED3B-D24D50EFD83D}"/>
              </a:ext>
            </a:extLst>
          </p:cNvPr>
          <p:cNvSpPr/>
          <p:nvPr/>
        </p:nvSpPr>
        <p:spPr>
          <a:xfrm>
            <a:off x="3319272" y="1078992"/>
            <a:ext cx="2651760" cy="320040"/>
          </a:xfrm>
          <a:prstGeom prst="rect">
            <a:avLst/>
          </a:prstGeom>
          <a:noFill/>
          <a:ln/>
        </p:spPr>
        <p:txBody>
          <a:bodyPr wrap="square" lIns="0" tIns="0" rIns="0" bIns="0" rtlCol="0" anchor="ctr"/>
          <a:lstStyle/>
          <a:p>
            <a:pPr marL="0" indent="0">
              <a:buNone/>
            </a:pPr>
            <a:endParaRPr lang="en-US" sz="1300" dirty="0"/>
          </a:p>
        </p:txBody>
      </p:sp>
      <p:sp>
        <p:nvSpPr>
          <p:cNvPr id="11" name="Text 9">
            <a:extLst>
              <a:ext uri="{FF2B5EF4-FFF2-40B4-BE49-F238E27FC236}">
                <a16:creationId xmlns:a16="http://schemas.microsoft.com/office/drawing/2014/main" id="{4D499494-1A60-7839-777D-C7B10A86125C}"/>
              </a:ext>
            </a:extLst>
          </p:cNvPr>
          <p:cNvSpPr/>
          <p:nvPr/>
        </p:nvSpPr>
        <p:spPr>
          <a:xfrm>
            <a:off x="3355848" y="1508760"/>
            <a:ext cx="2578608" cy="2743200"/>
          </a:xfrm>
          <a:prstGeom prst="rect">
            <a:avLst/>
          </a:prstGeom>
          <a:noFill/>
          <a:ln/>
        </p:spPr>
        <p:txBody>
          <a:bodyPr wrap="square" rtlCol="0" anchor="t"/>
          <a:lstStyle/>
          <a:p>
            <a:pPr marL="0" indent="0">
              <a:buNone/>
            </a:pPr>
            <a:endParaRPr lang="en-US" sz="1200" dirty="0"/>
          </a:p>
        </p:txBody>
      </p:sp>
      <p:sp>
        <p:nvSpPr>
          <p:cNvPr id="14" name="Text 12">
            <a:extLst>
              <a:ext uri="{FF2B5EF4-FFF2-40B4-BE49-F238E27FC236}">
                <a16:creationId xmlns:a16="http://schemas.microsoft.com/office/drawing/2014/main" id="{A737CE8E-7737-F3FE-787A-E0C078DB7096}"/>
              </a:ext>
            </a:extLst>
          </p:cNvPr>
          <p:cNvSpPr/>
          <p:nvPr/>
        </p:nvSpPr>
        <p:spPr>
          <a:xfrm>
            <a:off x="6199632" y="1078992"/>
            <a:ext cx="2651760" cy="320040"/>
          </a:xfrm>
          <a:prstGeom prst="rect">
            <a:avLst/>
          </a:prstGeom>
          <a:noFill/>
          <a:ln/>
        </p:spPr>
        <p:txBody>
          <a:bodyPr wrap="square" lIns="0" tIns="0" rIns="0" bIns="0" rtlCol="0" anchor="ctr"/>
          <a:lstStyle/>
          <a:p>
            <a:pPr marL="0" indent="0">
              <a:buNone/>
            </a:pPr>
            <a:endParaRPr lang="en-US" sz="1300" dirty="0"/>
          </a:p>
        </p:txBody>
      </p:sp>
      <p:sp>
        <p:nvSpPr>
          <p:cNvPr id="15" name="Text 13">
            <a:extLst>
              <a:ext uri="{FF2B5EF4-FFF2-40B4-BE49-F238E27FC236}">
                <a16:creationId xmlns:a16="http://schemas.microsoft.com/office/drawing/2014/main" id="{112463E3-3EE1-805A-FDEF-141F026B22FA}"/>
              </a:ext>
            </a:extLst>
          </p:cNvPr>
          <p:cNvSpPr/>
          <p:nvPr/>
        </p:nvSpPr>
        <p:spPr>
          <a:xfrm>
            <a:off x="6236208" y="1508760"/>
            <a:ext cx="2578608" cy="2743200"/>
          </a:xfrm>
          <a:prstGeom prst="rect">
            <a:avLst/>
          </a:prstGeom>
          <a:noFill/>
          <a:ln/>
        </p:spPr>
        <p:txBody>
          <a:bodyPr wrap="square" rtlCol="0" anchor="t"/>
          <a:lstStyle/>
          <a:p>
            <a:pPr marL="0" indent="0">
              <a:buNone/>
            </a:pPr>
            <a:endParaRPr lang="en-US" sz="1200" dirty="0"/>
          </a:p>
        </p:txBody>
      </p:sp>
    </p:spTree>
    <p:extLst>
      <p:ext uri="{BB962C8B-B14F-4D97-AF65-F5344CB8AC3E}">
        <p14:creationId xmlns:p14="http://schemas.microsoft.com/office/powerpoint/2010/main" val="33155365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8F9"/>
        </a:solidFill>
        <a:effectLst/>
      </p:bgPr>
    </p:bg>
    <p:spTree>
      <p:nvGrpSpPr>
        <p:cNvPr id="1" name="">
          <a:extLst>
            <a:ext uri="{FF2B5EF4-FFF2-40B4-BE49-F238E27FC236}">
              <a16:creationId xmlns:a16="http://schemas.microsoft.com/office/drawing/2014/main" id="{677ACDAD-CB3B-60B0-8501-DC539EAD6F6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D404276-116B-2886-D293-2F1D5B34136F}"/>
              </a:ext>
            </a:extLst>
          </p:cNvPr>
          <p:cNvSpPr/>
          <p:nvPr/>
        </p:nvSpPr>
        <p:spPr>
          <a:xfrm>
            <a:off x="502920" y="182880"/>
            <a:ext cx="8412480" cy="502920"/>
          </a:xfrm>
          <a:prstGeom prst="rect">
            <a:avLst/>
          </a:prstGeom>
          <a:noFill/>
          <a:ln/>
        </p:spPr>
        <p:txBody>
          <a:bodyPr wrap="square" lIns="0" tIns="0" rIns="0" bIns="0" rtlCol="0" anchor="ctr"/>
          <a:lstStyle/>
          <a:p>
            <a:pPr marL="0" indent="0">
              <a:buNone/>
            </a:pPr>
            <a:r>
              <a:rPr lang="en-US" sz="4000" b="1" dirty="0">
                <a:solidFill>
                  <a:srgbClr val="0D2B45"/>
                </a:solidFill>
                <a:latin typeface="Times New Roman" panose="02020603050405020304" pitchFamily="18" charset="0"/>
                <a:cs typeface="Times New Roman" panose="02020603050405020304" pitchFamily="18" charset="0"/>
              </a:rPr>
              <a:t>Abstract</a:t>
            </a:r>
            <a:endParaRPr lang="en-US" sz="4000" dirty="0">
              <a:latin typeface="Times New Roman" panose="02020603050405020304" pitchFamily="18" charset="0"/>
              <a:cs typeface="Times New Roman" panose="02020603050405020304" pitchFamily="18" charset="0"/>
            </a:endParaRPr>
          </a:p>
        </p:txBody>
      </p:sp>
      <p:sp>
        <p:nvSpPr>
          <p:cNvPr id="3" name="Shape 1">
            <a:extLst>
              <a:ext uri="{FF2B5EF4-FFF2-40B4-BE49-F238E27FC236}">
                <a16:creationId xmlns:a16="http://schemas.microsoft.com/office/drawing/2014/main" id="{2E4921C3-AB08-F512-3D28-081A9A152A75}"/>
              </a:ext>
            </a:extLst>
          </p:cNvPr>
          <p:cNvSpPr/>
          <p:nvPr/>
        </p:nvSpPr>
        <p:spPr>
          <a:xfrm>
            <a:off x="365760" y="932688"/>
            <a:ext cx="8412480" cy="27432"/>
          </a:xfrm>
          <a:prstGeom prst="rect">
            <a:avLst/>
          </a:prstGeom>
          <a:solidFill>
            <a:srgbClr val="0F7173"/>
          </a:solidFill>
          <a:ln w="12700">
            <a:solidFill>
              <a:srgbClr val="0F7173"/>
            </a:solidFill>
            <a:prstDash val="solid"/>
          </a:ln>
        </p:spPr>
        <p:txBody>
          <a:bodyPr/>
          <a:lstStyle/>
          <a:p>
            <a:endParaRPr lang="en-US"/>
          </a:p>
        </p:txBody>
      </p:sp>
      <p:sp>
        <p:nvSpPr>
          <p:cNvPr id="4" name="Shape 2">
            <a:extLst>
              <a:ext uri="{FF2B5EF4-FFF2-40B4-BE49-F238E27FC236}">
                <a16:creationId xmlns:a16="http://schemas.microsoft.com/office/drawing/2014/main" id="{9609FC66-527E-7968-245B-D18F3F9E1AFF}"/>
              </a:ext>
            </a:extLst>
          </p:cNvPr>
          <p:cNvSpPr/>
          <p:nvPr/>
        </p:nvSpPr>
        <p:spPr>
          <a:xfrm>
            <a:off x="356616" y="1078992"/>
            <a:ext cx="2788920" cy="3474720"/>
          </a:xfrm>
          <a:prstGeom prst="rect">
            <a:avLst/>
          </a:prstGeom>
          <a:solidFill>
            <a:srgbClr val="FFFFFF"/>
          </a:solidFill>
          <a:ln w="12700">
            <a:solidFill>
              <a:srgbClr val="FFFFFF">
                <a:alpha val="0"/>
              </a:srgbClr>
            </a:solidFill>
            <a:prstDash val="solid"/>
          </a:ln>
          <a:effectLst>
            <a:outerShdw blurRad="63500" dist="25400" dir="8100000" algn="bl" rotWithShape="0">
              <a:srgbClr val="000000">
                <a:alpha val="8000"/>
              </a:srgbClr>
            </a:outerShdw>
          </a:effectLst>
        </p:spPr>
        <p:txBody>
          <a:bodyPr/>
          <a:lstStyle/>
          <a:p>
            <a:endParaRPr lang="en-US"/>
          </a:p>
        </p:txBody>
      </p:sp>
      <p:sp>
        <p:nvSpPr>
          <p:cNvPr id="5" name="Shape 3">
            <a:extLst>
              <a:ext uri="{FF2B5EF4-FFF2-40B4-BE49-F238E27FC236}">
                <a16:creationId xmlns:a16="http://schemas.microsoft.com/office/drawing/2014/main" id="{17BF8B59-B20B-2DB0-E8E8-A19CED450E88}"/>
              </a:ext>
            </a:extLst>
          </p:cNvPr>
          <p:cNvSpPr/>
          <p:nvPr/>
        </p:nvSpPr>
        <p:spPr>
          <a:xfrm>
            <a:off x="365760" y="1051560"/>
            <a:ext cx="2788920" cy="384048"/>
          </a:xfrm>
          <a:prstGeom prst="rect">
            <a:avLst/>
          </a:prstGeom>
          <a:solidFill>
            <a:srgbClr val="0F7173"/>
          </a:solidFill>
          <a:ln w="12700">
            <a:solidFill>
              <a:srgbClr val="0F7173"/>
            </a:solidFill>
            <a:prstDash val="solid"/>
          </a:ln>
        </p:spPr>
        <p:txBody>
          <a:bodyPr/>
          <a:lstStyle/>
          <a:p>
            <a:endParaRPr lang="en-US"/>
          </a:p>
        </p:txBody>
      </p:sp>
      <p:sp>
        <p:nvSpPr>
          <p:cNvPr id="6" name="Text 4">
            <a:extLst>
              <a:ext uri="{FF2B5EF4-FFF2-40B4-BE49-F238E27FC236}">
                <a16:creationId xmlns:a16="http://schemas.microsoft.com/office/drawing/2014/main" id="{0E6E4AC0-FDE9-3A94-F3EE-E005F6B00B41}"/>
              </a:ext>
            </a:extLst>
          </p:cNvPr>
          <p:cNvSpPr/>
          <p:nvPr/>
        </p:nvSpPr>
        <p:spPr>
          <a:xfrm>
            <a:off x="438912" y="1078992"/>
            <a:ext cx="2651760" cy="320040"/>
          </a:xfrm>
          <a:prstGeom prst="rect">
            <a:avLst/>
          </a:prstGeom>
          <a:noFill/>
          <a:ln/>
        </p:spPr>
        <p:txBody>
          <a:bodyPr wrap="square" lIns="0" tIns="0" rIns="0" bIns="0" rtlCol="0" anchor="ctr"/>
          <a:lstStyle/>
          <a:p>
            <a:pPr marL="0" indent="0">
              <a:buNone/>
            </a:pPr>
            <a:r>
              <a:rPr lang="en-US" sz="2000" b="1" dirty="0">
                <a:solidFill>
                  <a:srgbClr val="FFFFFF"/>
                </a:solidFill>
                <a:latin typeface="Times New Roman" panose="02020603050405020304" pitchFamily="18" charset="0"/>
                <a:ea typeface="Calibri" pitchFamily="34" charset="-122"/>
                <a:cs typeface="Times New Roman" panose="02020603050405020304" pitchFamily="18" charset="0"/>
              </a:rPr>
              <a:t>Background</a:t>
            </a:r>
            <a:endParaRPr lang="en-US" sz="2000" dirty="0">
              <a:latin typeface="Times New Roman" panose="02020603050405020304" pitchFamily="18" charset="0"/>
              <a:cs typeface="Times New Roman" panose="02020603050405020304" pitchFamily="18" charset="0"/>
            </a:endParaRPr>
          </a:p>
        </p:txBody>
      </p:sp>
      <p:sp>
        <p:nvSpPr>
          <p:cNvPr id="7" name="Text 5">
            <a:extLst>
              <a:ext uri="{FF2B5EF4-FFF2-40B4-BE49-F238E27FC236}">
                <a16:creationId xmlns:a16="http://schemas.microsoft.com/office/drawing/2014/main" id="{0E6A284E-CA37-C2BD-BC1C-48197224D323}"/>
              </a:ext>
            </a:extLst>
          </p:cNvPr>
          <p:cNvSpPr/>
          <p:nvPr/>
        </p:nvSpPr>
        <p:spPr>
          <a:xfrm>
            <a:off x="475488" y="1508760"/>
            <a:ext cx="2578608" cy="2743200"/>
          </a:xfrm>
          <a:prstGeom prst="rect">
            <a:avLst/>
          </a:prstGeom>
          <a:noFill/>
          <a:ln/>
        </p:spPr>
        <p:txBody>
          <a:bodyPr wrap="square" rtlCol="0" anchor="t"/>
          <a:lstStyle/>
          <a:p>
            <a:pPr marL="0" indent="0">
              <a:buNone/>
            </a:pPr>
            <a:r>
              <a:rPr lang="en-US" dirty="0">
                <a:solidFill>
                  <a:srgbClr val="1E2D3D"/>
                </a:solidFill>
                <a:latin typeface="Times New Roman" panose="02020603050405020304" pitchFamily="18" charset="0"/>
                <a:ea typeface="Calibri" pitchFamily="34" charset="-122"/>
                <a:cs typeface="Times New Roman" panose="02020603050405020304" pitchFamily="18" charset="0"/>
              </a:rPr>
              <a:t>Spinal TB (Pott's disease) is a destructive form of extrapulmonary TB with severe neurological consequences. Molecular mechanisms remain poorly understood.</a:t>
            </a:r>
            <a:endParaRPr lang="en-US" dirty="0">
              <a:latin typeface="Times New Roman" panose="02020603050405020304" pitchFamily="18" charset="0"/>
              <a:cs typeface="Times New Roman" panose="02020603050405020304" pitchFamily="18" charset="0"/>
            </a:endParaRPr>
          </a:p>
        </p:txBody>
      </p:sp>
      <p:sp>
        <p:nvSpPr>
          <p:cNvPr id="8" name="Shape 6">
            <a:extLst>
              <a:ext uri="{FF2B5EF4-FFF2-40B4-BE49-F238E27FC236}">
                <a16:creationId xmlns:a16="http://schemas.microsoft.com/office/drawing/2014/main" id="{26AFBBD6-7A94-C750-04B0-936FD2FF06C5}"/>
              </a:ext>
            </a:extLst>
          </p:cNvPr>
          <p:cNvSpPr/>
          <p:nvPr/>
        </p:nvSpPr>
        <p:spPr>
          <a:xfrm>
            <a:off x="3246120" y="1051560"/>
            <a:ext cx="2788920" cy="3474720"/>
          </a:xfrm>
          <a:prstGeom prst="rect">
            <a:avLst/>
          </a:prstGeom>
          <a:solidFill>
            <a:srgbClr val="FFFFFF"/>
          </a:solidFill>
          <a:ln w="12700">
            <a:solidFill>
              <a:srgbClr val="FFFFFF">
                <a:alpha val="0"/>
              </a:srgbClr>
            </a:solidFill>
            <a:prstDash val="solid"/>
          </a:ln>
          <a:effectLst>
            <a:outerShdw blurRad="63500" dist="25400" dir="8100000" algn="bl" rotWithShape="0">
              <a:srgbClr val="000000">
                <a:alpha val="8000"/>
              </a:srgbClr>
            </a:outerShdw>
          </a:effectLst>
        </p:spPr>
        <p:txBody>
          <a:bodyPr/>
          <a:lstStyle/>
          <a:p>
            <a:endParaRPr lang="en-US"/>
          </a:p>
        </p:txBody>
      </p:sp>
      <p:sp>
        <p:nvSpPr>
          <p:cNvPr id="9" name="Shape 7">
            <a:extLst>
              <a:ext uri="{FF2B5EF4-FFF2-40B4-BE49-F238E27FC236}">
                <a16:creationId xmlns:a16="http://schemas.microsoft.com/office/drawing/2014/main" id="{72FAD7C8-20F5-9C47-8412-BA0C13A7DCF9}"/>
              </a:ext>
            </a:extLst>
          </p:cNvPr>
          <p:cNvSpPr/>
          <p:nvPr/>
        </p:nvSpPr>
        <p:spPr>
          <a:xfrm>
            <a:off x="3246120" y="1051560"/>
            <a:ext cx="2788920" cy="384048"/>
          </a:xfrm>
          <a:prstGeom prst="rect">
            <a:avLst/>
          </a:prstGeom>
          <a:solidFill>
            <a:srgbClr val="0F7173"/>
          </a:solidFill>
          <a:ln w="12700">
            <a:solidFill>
              <a:srgbClr val="0F7173"/>
            </a:solidFill>
            <a:prstDash val="solid"/>
          </a:ln>
        </p:spPr>
        <p:txBody>
          <a:bodyPr/>
          <a:lstStyle/>
          <a:p>
            <a:endParaRPr lang="en-US"/>
          </a:p>
        </p:txBody>
      </p:sp>
      <p:sp>
        <p:nvSpPr>
          <p:cNvPr id="10" name="Text 8">
            <a:extLst>
              <a:ext uri="{FF2B5EF4-FFF2-40B4-BE49-F238E27FC236}">
                <a16:creationId xmlns:a16="http://schemas.microsoft.com/office/drawing/2014/main" id="{46712F7E-C57D-97D5-E837-24CD062D70E5}"/>
              </a:ext>
            </a:extLst>
          </p:cNvPr>
          <p:cNvSpPr/>
          <p:nvPr/>
        </p:nvSpPr>
        <p:spPr>
          <a:xfrm>
            <a:off x="3319272" y="1078992"/>
            <a:ext cx="2651760" cy="320040"/>
          </a:xfrm>
          <a:prstGeom prst="rect">
            <a:avLst/>
          </a:prstGeom>
          <a:noFill/>
          <a:ln/>
        </p:spPr>
        <p:txBody>
          <a:bodyPr wrap="square" lIns="0" tIns="0" rIns="0" bIns="0" rtlCol="0" anchor="ctr"/>
          <a:lstStyle/>
          <a:p>
            <a:pPr marL="0" indent="0">
              <a:buNone/>
            </a:pPr>
            <a:r>
              <a:rPr lang="en-US" sz="2000" b="1" dirty="0">
                <a:solidFill>
                  <a:srgbClr val="FFFFFF"/>
                </a:solidFill>
                <a:latin typeface="Times New Roman" panose="02020603050405020304" pitchFamily="18" charset="0"/>
                <a:ea typeface="Calibri" pitchFamily="34" charset="-122"/>
                <a:cs typeface="Times New Roman" panose="02020603050405020304" pitchFamily="18" charset="0"/>
              </a:rPr>
              <a:t>Objective</a:t>
            </a:r>
            <a:endParaRPr lang="en-US" sz="2000" dirty="0">
              <a:latin typeface="Times New Roman" panose="02020603050405020304" pitchFamily="18" charset="0"/>
              <a:cs typeface="Times New Roman" panose="02020603050405020304" pitchFamily="18" charset="0"/>
            </a:endParaRPr>
          </a:p>
        </p:txBody>
      </p:sp>
      <p:sp>
        <p:nvSpPr>
          <p:cNvPr id="11" name="Text 9">
            <a:extLst>
              <a:ext uri="{FF2B5EF4-FFF2-40B4-BE49-F238E27FC236}">
                <a16:creationId xmlns:a16="http://schemas.microsoft.com/office/drawing/2014/main" id="{533AF3E7-26BD-D9C1-0251-B4B90B931953}"/>
              </a:ext>
            </a:extLst>
          </p:cNvPr>
          <p:cNvSpPr/>
          <p:nvPr/>
        </p:nvSpPr>
        <p:spPr>
          <a:xfrm>
            <a:off x="3355848" y="1508760"/>
            <a:ext cx="2578608" cy="2743200"/>
          </a:xfrm>
          <a:prstGeom prst="rect">
            <a:avLst/>
          </a:prstGeom>
          <a:noFill/>
          <a:ln/>
        </p:spPr>
        <p:txBody>
          <a:bodyPr wrap="square" rtlCol="0" anchor="t"/>
          <a:lstStyle/>
          <a:p>
            <a:pPr marL="0" indent="0">
              <a:buNone/>
            </a:pPr>
            <a:r>
              <a:rPr lang="en-US" dirty="0">
                <a:solidFill>
                  <a:srgbClr val="1E2D3D"/>
                </a:solidFill>
                <a:latin typeface="Times New Roman" panose="02020603050405020304" pitchFamily="18" charset="0"/>
                <a:ea typeface="Calibri" pitchFamily="34" charset="-122"/>
                <a:cs typeface="Times New Roman" panose="02020603050405020304" pitchFamily="18" charset="0"/>
              </a:rPr>
              <a:t>Investigate transcriptomic alterations in diseased intervertebral disc tissue using RNA-seq data (GSE268366) to identify molecular pathways and potential biomarkers.</a:t>
            </a:r>
            <a:endParaRPr lang="en-US" dirty="0">
              <a:latin typeface="Times New Roman" panose="02020603050405020304" pitchFamily="18" charset="0"/>
              <a:cs typeface="Times New Roman" panose="02020603050405020304" pitchFamily="18" charset="0"/>
            </a:endParaRPr>
          </a:p>
        </p:txBody>
      </p:sp>
      <p:sp>
        <p:nvSpPr>
          <p:cNvPr id="12" name="Shape 10">
            <a:extLst>
              <a:ext uri="{FF2B5EF4-FFF2-40B4-BE49-F238E27FC236}">
                <a16:creationId xmlns:a16="http://schemas.microsoft.com/office/drawing/2014/main" id="{9FBDC242-16A4-4272-F08E-F8DA9E2EC8C9}"/>
              </a:ext>
            </a:extLst>
          </p:cNvPr>
          <p:cNvSpPr/>
          <p:nvPr/>
        </p:nvSpPr>
        <p:spPr>
          <a:xfrm>
            <a:off x="6126480" y="1051560"/>
            <a:ext cx="2788920" cy="3474720"/>
          </a:xfrm>
          <a:prstGeom prst="rect">
            <a:avLst/>
          </a:prstGeom>
          <a:solidFill>
            <a:srgbClr val="FFFFFF"/>
          </a:solidFill>
          <a:ln w="12700">
            <a:solidFill>
              <a:srgbClr val="FFFFFF">
                <a:alpha val="0"/>
              </a:srgbClr>
            </a:solidFill>
            <a:prstDash val="solid"/>
          </a:ln>
          <a:effectLst>
            <a:outerShdw blurRad="63500" dist="25400" dir="8100000" algn="bl" rotWithShape="0">
              <a:srgbClr val="000000">
                <a:alpha val="8000"/>
              </a:srgbClr>
            </a:outerShdw>
          </a:effectLst>
        </p:spPr>
        <p:txBody>
          <a:bodyPr/>
          <a:lstStyle/>
          <a:p>
            <a:endParaRPr lang="en-US"/>
          </a:p>
        </p:txBody>
      </p:sp>
      <p:sp>
        <p:nvSpPr>
          <p:cNvPr id="13" name="Shape 11">
            <a:extLst>
              <a:ext uri="{FF2B5EF4-FFF2-40B4-BE49-F238E27FC236}">
                <a16:creationId xmlns:a16="http://schemas.microsoft.com/office/drawing/2014/main" id="{CF9AA2DB-188C-51E3-30F9-F46552C27883}"/>
              </a:ext>
            </a:extLst>
          </p:cNvPr>
          <p:cNvSpPr/>
          <p:nvPr/>
        </p:nvSpPr>
        <p:spPr>
          <a:xfrm>
            <a:off x="6126480" y="1051560"/>
            <a:ext cx="2788920" cy="384048"/>
          </a:xfrm>
          <a:prstGeom prst="rect">
            <a:avLst/>
          </a:prstGeom>
          <a:solidFill>
            <a:srgbClr val="0F7173"/>
          </a:solidFill>
          <a:ln w="12700">
            <a:solidFill>
              <a:srgbClr val="0F7173"/>
            </a:solidFill>
            <a:prstDash val="solid"/>
          </a:ln>
        </p:spPr>
        <p:txBody>
          <a:bodyPr/>
          <a:lstStyle/>
          <a:p>
            <a:endParaRPr lang="en-US"/>
          </a:p>
        </p:txBody>
      </p:sp>
      <p:sp>
        <p:nvSpPr>
          <p:cNvPr id="14" name="Text 12">
            <a:extLst>
              <a:ext uri="{FF2B5EF4-FFF2-40B4-BE49-F238E27FC236}">
                <a16:creationId xmlns:a16="http://schemas.microsoft.com/office/drawing/2014/main" id="{03DB55F7-E079-E02B-9250-1BFB55D598C7}"/>
              </a:ext>
            </a:extLst>
          </p:cNvPr>
          <p:cNvSpPr/>
          <p:nvPr/>
        </p:nvSpPr>
        <p:spPr>
          <a:xfrm>
            <a:off x="6199632" y="1078992"/>
            <a:ext cx="2651760" cy="320040"/>
          </a:xfrm>
          <a:prstGeom prst="rect">
            <a:avLst/>
          </a:prstGeom>
          <a:noFill/>
          <a:ln/>
        </p:spPr>
        <p:txBody>
          <a:bodyPr wrap="square" lIns="0" tIns="0" rIns="0" bIns="0" rtlCol="0" anchor="ctr"/>
          <a:lstStyle/>
          <a:p>
            <a:pPr marL="0" indent="0">
              <a:buNone/>
            </a:pPr>
            <a:r>
              <a:rPr lang="en-US" sz="2000" b="1" dirty="0">
                <a:solidFill>
                  <a:srgbClr val="FFFFFF"/>
                </a:solidFill>
                <a:latin typeface="Times New Roman" panose="02020603050405020304" pitchFamily="18" charset="0"/>
                <a:ea typeface="Calibri" pitchFamily="34" charset="-122"/>
                <a:cs typeface="Times New Roman" panose="02020603050405020304" pitchFamily="18" charset="0"/>
              </a:rPr>
              <a:t>Key Findings</a:t>
            </a:r>
            <a:endParaRPr lang="en-US" sz="2000" dirty="0">
              <a:latin typeface="Times New Roman" panose="02020603050405020304" pitchFamily="18" charset="0"/>
              <a:cs typeface="Times New Roman" panose="02020603050405020304" pitchFamily="18" charset="0"/>
            </a:endParaRPr>
          </a:p>
        </p:txBody>
      </p:sp>
      <p:sp>
        <p:nvSpPr>
          <p:cNvPr id="15" name="Text 13">
            <a:extLst>
              <a:ext uri="{FF2B5EF4-FFF2-40B4-BE49-F238E27FC236}">
                <a16:creationId xmlns:a16="http://schemas.microsoft.com/office/drawing/2014/main" id="{CFA20512-ECFA-2AAA-D54E-389D19DABB95}"/>
              </a:ext>
            </a:extLst>
          </p:cNvPr>
          <p:cNvSpPr/>
          <p:nvPr/>
        </p:nvSpPr>
        <p:spPr>
          <a:xfrm>
            <a:off x="6236208" y="1508760"/>
            <a:ext cx="2578608" cy="2743200"/>
          </a:xfrm>
          <a:prstGeom prst="rect">
            <a:avLst/>
          </a:prstGeom>
          <a:noFill/>
          <a:ln/>
        </p:spPr>
        <p:txBody>
          <a:bodyPr wrap="square" rtlCol="0" anchor="t"/>
          <a:lstStyle/>
          <a:p>
            <a:pPr marL="0" indent="0">
              <a:buNone/>
            </a:pPr>
            <a:r>
              <a:rPr lang="en-US" dirty="0">
                <a:solidFill>
                  <a:srgbClr val="1E2D3D"/>
                </a:solidFill>
                <a:latin typeface="Times New Roman" panose="02020603050405020304" pitchFamily="18" charset="0"/>
                <a:ea typeface="Calibri" pitchFamily="34" charset="-122"/>
                <a:cs typeface="Times New Roman" panose="02020603050405020304" pitchFamily="18" charset="0"/>
              </a:rPr>
              <a:t>Strong enrichment of immune &amp; inflammatory pathways (cytokine signaling, TLR). Hub genes &amp; proteins (TNFRSF family, complement proteins) identified as potential therapeutic targets.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59502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4F8F9"/>
        </a:solidFill>
        <a:effectLst/>
      </p:bgPr>
    </p:bg>
    <p:spTree>
      <p:nvGrpSpPr>
        <p:cNvPr id="1" name=""/>
        <p:cNvGrpSpPr/>
        <p:nvPr/>
      </p:nvGrpSpPr>
      <p:grpSpPr>
        <a:xfrm>
          <a:off x="0" y="0"/>
          <a:ext cx="0" cy="0"/>
          <a:chOff x="0" y="0"/>
          <a:chExt cx="0" cy="0"/>
        </a:xfrm>
      </p:grpSpPr>
      <p:sp>
        <p:nvSpPr>
          <p:cNvPr id="2" name="Text 0"/>
          <p:cNvSpPr/>
          <p:nvPr/>
        </p:nvSpPr>
        <p:spPr>
          <a:xfrm>
            <a:off x="457200" y="174929"/>
            <a:ext cx="8412480" cy="502920"/>
          </a:xfrm>
          <a:prstGeom prst="rect">
            <a:avLst/>
          </a:prstGeom>
          <a:noFill/>
          <a:ln/>
        </p:spPr>
        <p:txBody>
          <a:bodyPr wrap="square" lIns="0" tIns="0" rIns="0" bIns="0" rtlCol="0" anchor="ctr"/>
          <a:lstStyle/>
          <a:p>
            <a:pPr marL="0" indent="0">
              <a:buNone/>
            </a:pPr>
            <a:r>
              <a:rPr lang="en-US" sz="4000" b="1" dirty="0">
                <a:solidFill>
                  <a:srgbClr val="0D2B45"/>
                </a:solidFill>
                <a:latin typeface="Times New Roman" panose="02020603050405020304" pitchFamily="18" charset="0"/>
                <a:ea typeface="Calibri" pitchFamily="34" charset="-122"/>
                <a:cs typeface="Times New Roman" panose="02020603050405020304" pitchFamily="18" charset="0"/>
              </a:rPr>
              <a:t>Methodology — Data Collection</a:t>
            </a:r>
            <a:endParaRPr lang="en-US" sz="4000" dirty="0">
              <a:latin typeface="Times New Roman" panose="02020603050405020304" pitchFamily="18" charset="0"/>
              <a:cs typeface="Times New Roman" panose="02020603050405020304" pitchFamily="18" charset="0"/>
            </a:endParaRPr>
          </a:p>
        </p:txBody>
      </p:sp>
      <p:sp>
        <p:nvSpPr>
          <p:cNvPr id="3" name="Text 1"/>
          <p:cNvSpPr/>
          <p:nvPr/>
        </p:nvSpPr>
        <p:spPr>
          <a:xfrm>
            <a:off x="502920" y="658368"/>
            <a:ext cx="8412480" cy="256032"/>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GEO Database · GSE268366</a:t>
            </a:r>
            <a:endParaRPr lang="en-US" sz="1300" dirty="0"/>
          </a:p>
        </p:txBody>
      </p:sp>
      <p:sp>
        <p:nvSpPr>
          <p:cNvPr id="4" name="Shape 2"/>
          <p:cNvSpPr/>
          <p:nvPr/>
        </p:nvSpPr>
        <p:spPr>
          <a:xfrm>
            <a:off x="365760" y="932688"/>
            <a:ext cx="8412480" cy="27432"/>
          </a:xfrm>
          <a:prstGeom prst="rect">
            <a:avLst/>
          </a:prstGeom>
          <a:solidFill>
            <a:srgbClr val="0F7173"/>
          </a:solidFill>
          <a:ln w="12700">
            <a:solidFill>
              <a:srgbClr val="0F7173"/>
            </a:solidFill>
            <a:prstDash val="solid"/>
          </a:ln>
        </p:spPr>
        <p:txBody>
          <a:bodyPr/>
          <a:lstStyle/>
          <a:p>
            <a:endParaRPr lang="en-US"/>
          </a:p>
        </p:txBody>
      </p:sp>
      <p:sp>
        <p:nvSpPr>
          <p:cNvPr id="5" name="Shape 3"/>
          <p:cNvSpPr/>
          <p:nvPr/>
        </p:nvSpPr>
        <p:spPr>
          <a:xfrm>
            <a:off x="365760" y="1097280"/>
            <a:ext cx="4160520" cy="1600200"/>
          </a:xfrm>
          <a:prstGeom prst="rect">
            <a:avLst/>
          </a:prstGeom>
          <a:solidFill>
            <a:srgbClr val="FFFFFF"/>
          </a:solidFill>
          <a:ln w="12700">
            <a:solidFill>
              <a:srgbClr val="E2E8F0"/>
            </a:solidFill>
            <a:prstDash val="solid"/>
          </a:ln>
          <a:effectLst>
            <a:outerShdw blurRad="50800" dist="12700" dir="8100000" algn="bl" rotWithShape="0">
              <a:srgbClr val="000000">
                <a:alpha val="7000"/>
              </a:srgbClr>
            </a:outerShdw>
          </a:effectLst>
        </p:spPr>
        <p:txBody>
          <a:bodyPr/>
          <a:lstStyle/>
          <a:p>
            <a:endParaRPr lang="en-US"/>
          </a:p>
        </p:txBody>
      </p:sp>
      <p:sp>
        <p:nvSpPr>
          <p:cNvPr id="6" name="Shape 4"/>
          <p:cNvSpPr/>
          <p:nvPr/>
        </p:nvSpPr>
        <p:spPr>
          <a:xfrm>
            <a:off x="365760" y="1097280"/>
            <a:ext cx="502920" cy="1600200"/>
          </a:xfrm>
          <a:prstGeom prst="rect">
            <a:avLst/>
          </a:prstGeom>
          <a:solidFill>
            <a:srgbClr val="0D2B45"/>
          </a:solidFill>
          <a:ln w="12700">
            <a:solidFill>
              <a:srgbClr val="0D2B45"/>
            </a:solidFill>
            <a:prstDash val="solid"/>
          </a:ln>
        </p:spPr>
        <p:txBody>
          <a:bodyPr/>
          <a:lstStyle/>
          <a:p>
            <a:endParaRPr lang="en-US"/>
          </a:p>
        </p:txBody>
      </p:sp>
      <p:sp>
        <p:nvSpPr>
          <p:cNvPr id="7" name="Text 5"/>
          <p:cNvSpPr/>
          <p:nvPr/>
        </p:nvSpPr>
        <p:spPr>
          <a:xfrm>
            <a:off x="365760" y="1600200"/>
            <a:ext cx="502920" cy="59436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①</a:t>
            </a:r>
            <a:endParaRPr lang="en-US" sz="1800" dirty="0"/>
          </a:p>
        </p:txBody>
      </p:sp>
      <p:sp>
        <p:nvSpPr>
          <p:cNvPr id="8" name="Text 6"/>
          <p:cNvSpPr/>
          <p:nvPr/>
        </p:nvSpPr>
        <p:spPr>
          <a:xfrm>
            <a:off x="960120" y="1207008"/>
            <a:ext cx="3474720" cy="320040"/>
          </a:xfrm>
          <a:prstGeom prst="rect">
            <a:avLst/>
          </a:prstGeom>
          <a:noFill/>
          <a:ln/>
        </p:spPr>
        <p:txBody>
          <a:bodyPr wrap="square" lIns="0" tIns="0" rIns="0" bIns="0" rtlCol="0" anchor="ctr"/>
          <a:lstStyle/>
          <a:p>
            <a:pPr marL="0" indent="0">
              <a:buNone/>
            </a:pPr>
            <a:r>
              <a:rPr lang="en-US" sz="2000" b="1" dirty="0">
                <a:solidFill>
                  <a:srgbClr val="0F7173"/>
                </a:solidFill>
                <a:latin typeface="Times New Roman" panose="02020603050405020304" pitchFamily="18" charset="0"/>
                <a:ea typeface="Calibri" pitchFamily="34" charset="-122"/>
                <a:cs typeface="Times New Roman" panose="02020603050405020304" pitchFamily="18" charset="0"/>
              </a:rPr>
              <a:t>GEO Database</a:t>
            </a:r>
            <a:endParaRPr lang="en-US" sz="2000" dirty="0">
              <a:latin typeface="Times New Roman" panose="02020603050405020304" pitchFamily="18" charset="0"/>
              <a:cs typeface="Times New Roman" panose="02020603050405020304" pitchFamily="18" charset="0"/>
            </a:endParaRPr>
          </a:p>
        </p:txBody>
      </p:sp>
      <p:sp>
        <p:nvSpPr>
          <p:cNvPr id="9" name="Text 7"/>
          <p:cNvSpPr/>
          <p:nvPr/>
        </p:nvSpPr>
        <p:spPr>
          <a:xfrm>
            <a:off x="960120" y="1536192"/>
            <a:ext cx="3474720" cy="1051560"/>
          </a:xfrm>
          <a:prstGeom prst="rect">
            <a:avLst/>
          </a:prstGeom>
          <a:noFill/>
          <a:ln/>
        </p:spPr>
        <p:txBody>
          <a:bodyPr wrap="square" rtlCol="0" anchor="t"/>
          <a:lstStyle/>
          <a:p>
            <a:pPr marL="0" indent="0">
              <a:buNone/>
            </a:pPr>
            <a:r>
              <a:rPr lang="en-US" dirty="0">
                <a:solidFill>
                  <a:srgbClr val="1E2D3D"/>
                </a:solidFill>
                <a:latin typeface="Times New Roman" panose="02020603050405020304" pitchFamily="18" charset="0"/>
                <a:ea typeface="Calibri" pitchFamily="34" charset="-122"/>
                <a:cs typeface="Times New Roman" panose="02020603050405020304" pitchFamily="18" charset="0"/>
              </a:rPr>
              <a:t>RNA-seq data retrieved from NCBI GEO under accession GSE268366 — spinal TB vs lumbar disc degeneration.</a:t>
            </a:r>
            <a:endParaRPr lang="en-US" dirty="0">
              <a:latin typeface="Times New Roman" panose="02020603050405020304" pitchFamily="18" charset="0"/>
              <a:cs typeface="Times New Roman" panose="02020603050405020304" pitchFamily="18" charset="0"/>
            </a:endParaRPr>
          </a:p>
        </p:txBody>
      </p:sp>
      <p:sp>
        <p:nvSpPr>
          <p:cNvPr id="10" name="Shape 8"/>
          <p:cNvSpPr/>
          <p:nvPr/>
        </p:nvSpPr>
        <p:spPr>
          <a:xfrm>
            <a:off x="4709160" y="1097280"/>
            <a:ext cx="4160520" cy="1600200"/>
          </a:xfrm>
          <a:prstGeom prst="rect">
            <a:avLst/>
          </a:prstGeom>
          <a:solidFill>
            <a:srgbClr val="FFFFFF"/>
          </a:solidFill>
          <a:ln w="12700">
            <a:solidFill>
              <a:srgbClr val="E2E8F0"/>
            </a:solidFill>
            <a:prstDash val="solid"/>
          </a:ln>
          <a:effectLst>
            <a:outerShdw blurRad="50800" dist="12700" dir="8100000" algn="bl" rotWithShape="0">
              <a:srgbClr val="000000">
                <a:alpha val="7000"/>
              </a:srgbClr>
            </a:outerShdw>
          </a:effectLst>
        </p:spPr>
        <p:txBody>
          <a:bodyPr/>
          <a:lstStyle/>
          <a:p>
            <a:endParaRPr lang="en-US"/>
          </a:p>
        </p:txBody>
      </p:sp>
      <p:sp>
        <p:nvSpPr>
          <p:cNvPr id="11" name="Shape 9"/>
          <p:cNvSpPr/>
          <p:nvPr/>
        </p:nvSpPr>
        <p:spPr>
          <a:xfrm>
            <a:off x="4709160" y="1097280"/>
            <a:ext cx="502920" cy="1600200"/>
          </a:xfrm>
          <a:prstGeom prst="rect">
            <a:avLst/>
          </a:prstGeom>
          <a:solidFill>
            <a:srgbClr val="0D2B45"/>
          </a:solidFill>
          <a:ln w="12700">
            <a:solidFill>
              <a:srgbClr val="0D2B45"/>
            </a:solidFill>
            <a:prstDash val="solid"/>
          </a:ln>
        </p:spPr>
        <p:txBody>
          <a:bodyPr/>
          <a:lstStyle/>
          <a:p>
            <a:endParaRPr lang="en-US"/>
          </a:p>
        </p:txBody>
      </p:sp>
      <p:sp>
        <p:nvSpPr>
          <p:cNvPr id="12" name="Text 10"/>
          <p:cNvSpPr/>
          <p:nvPr/>
        </p:nvSpPr>
        <p:spPr>
          <a:xfrm>
            <a:off x="4709160" y="1600200"/>
            <a:ext cx="502920" cy="59436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②</a:t>
            </a:r>
            <a:endParaRPr lang="en-US" sz="1800" dirty="0"/>
          </a:p>
        </p:txBody>
      </p:sp>
      <p:sp>
        <p:nvSpPr>
          <p:cNvPr id="13" name="Text 11"/>
          <p:cNvSpPr/>
          <p:nvPr/>
        </p:nvSpPr>
        <p:spPr>
          <a:xfrm>
            <a:off x="5303520" y="1207008"/>
            <a:ext cx="3474720" cy="320040"/>
          </a:xfrm>
          <a:prstGeom prst="rect">
            <a:avLst/>
          </a:prstGeom>
          <a:noFill/>
          <a:ln/>
        </p:spPr>
        <p:txBody>
          <a:bodyPr wrap="square" lIns="0" tIns="0" rIns="0" bIns="0" rtlCol="0" anchor="ctr"/>
          <a:lstStyle/>
          <a:p>
            <a:pPr marL="0" indent="0">
              <a:buNone/>
            </a:pPr>
            <a:r>
              <a:rPr lang="en-US" sz="2000" b="1" dirty="0">
                <a:solidFill>
                  <a:srgbClr val="0F7173"/>
                </a:solidFill>
                <a:latin typeface="Times New Roman" panose="02020603050405020304" pitchFamily="18" charset="0"/>
                <a:cs typeface="Times New Roman" panose="02020603050405020304" pitchFamily="18" charset="0"/>
              </a:rPr>
              <a:t>Samples</a:t>
            </a:r>
            <a:endParaRPr lang="en-US" sz="2000" dirty="0">
              <a:latin typeface="Times New Roman" panose="02020603050405020304" pitchFamily="18" charset="0"/>
              <a:cs typeface="Times New Roman" panose="02020603050405020304" pitchFamily="18" charset="0"/>
            </a:endParaRPr>
          </a:p>
        </p:txBody>
      </p:sp>
      <p:sp>
        <p:nvSpPr>
          <p:cNvPr id="14" name="Text 12"/>
          <p:cNvSpPr/>
          <p:nvPr/>
        </p:nvSpPr>
        <p:spPr>
          <a:xfrm>
            <a:off x="5303520" y="1536192"/>
            <a:ext cx="3474720" cy="1051560"/>
          </a:xfrm>
          <a:prstGeom prst="rect">
            <a:avLst/>
          </a:prstGeom>
          <a:noFill/>
          <a:ln/>
        </p:spPr>
        <p:txBody>
          <a:bodyPr wrap="square" rtlCol="0" anchor="t"/>
          <a:lstStyle/>
          <a:p>
            <a:pPr marL="0" indent="0">
              <a:buNone/>
            </a:pPr>
            <a:r>
              <a:rPr lang="en-US" dirty="0">
                <a:solidFill>
                  <a:srgbClr val="1E2D3D"/>
                </a:solidFill>
                <a:latin typeface="Times New Roman" panose="02020603050405020304" pitchFamily="18" charset="0"/>
                <a:ea typeface="Calibri" pitchFamily="34" charset="-122"/>
                <a:cs typeface="Times New Roman" panose="02020603050405020304" pitchFamily="18" charset="0"/>
              </a:rPr>
              <a:t>5 spinal TB patients (test group) vs 5 lumbar disc degeneration patients (control). Paired-end Illumina sequencing</a:t>
            </a:r>
            <a:r>
              <a:rPr lang="en-US" dirty="0">
                <a:solidFill>
                  <a:srgbClr val="1E2D3D"/>
                </a:solidFill>
                <a:latin typeface="Calibri" pitchFamily="34" charset="0"/>
                <a:ea typeface="Calibri" pitchFamily="34" charset="-122"/>
                <a:cs typeface="Calibri" pitchFamily="34" charset="-120"/>
              </a:rPr>
              <a:t>.</a:t>
            </a:r>
            <a:endParaRPr lang="en-US" dirty="0"/>
          </a:p>
        </p:txBody>
      </p:sp>
      <p:sp>
        <p:nvSpPr>
          <p:cNvPr id="15" name="Shape 13"/>
          <p:cNvSpPr/>
          <p:nvPr/>
        </p:nvSpPr>
        <p:spPr>
          <a:xfrm>
            <a:off x="365760" y="2880360"/>
            <a:ext cx="4160520" cy="1600200"/>
          </a:xfrm>
          <a:prstGeom prst="rect">
            <a:avLst/>
          </a:prstGeom>
          <a:solidFill>
            <a:srgbClr val="FFFFFF"/>
          </a:solidFill>
          <a:ln w="12700">
            <a:solidFill>
              <a:srgbClr val="E2E8F0"/>
            </a:solidFill>
            <a:prstDash val="solid"/>
          </a:ln>
          <a:effectLst>
            <a:outerShdw blurRad="50800" dist="12700" dir="8100000" algn="bl" rotWithShape="0">
              <a:srgbClr val="000000">
                <a:alpha val="7000"/>
              </a:srgbClr>
            </a:outerShdw>
          </a:effectLst>
        </p:spPr>
        <p:txBody>
          <a:bodyPr/>
          <a:lstStyle/>
          <a:p>
            <a:endParaRPr lang="en-US"/>
          </a:p>
        </p:txBody>
      </p:sp>
      <p:sp>
        <p:nvSpPr>
          <p:cNvPr id="16" name="Shape 14"/>
          <p:cNvSpPr/>
          <p:nvPr/>
        </p:nvSpPr>
        <p:spPr>
          <a:xfrm>
            <a:off x="365760" y="2880360"/>
            <a:ext cx="502920" cy="1600200"/>
          </a:xfrm>
          <a:prstGeom prst="rect">
            <a:avLst/>
          </a:prstGeom>
          <a:solidFill>
            <a:srgbClr val="0D2B45"/>
          </a:solidFill>
          <a:ln w="12700">
            <a:solidFill>
              <a:srgbClr val="0D2B45"/>
            </a:solidFill>
            <a:prstDash val="solid"/>
          </a:ln>
        </p:spPr>
        <p:txBody>
          <a:bodyPr/>
          <a:lstStyle/>
          <a:p>
            <a:endParaRPr lang="en-US"/>
          </a:p>
        </p:txBody>
      </p:sp>
      <p:sp>
        <p:nvSpPr>
          <p:cNvPr id="17" name="Text 15"/>
          <p:cNvSpPr/>
          <p:nvPr/>
        </p:nvSpPr>
        <p:spPr>
          <a:xfrm>
            <a:off x="365760" y="3383280"/>
            <a:ext cx="502920" cy="59436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③</a:t>
            </a:r>
            <a:endParaRPr lang="en-US" sz="1800" dirty="0"/>
          </a:p>
        </p:txBody>
      </p:sp>
      <p:sp>
        <p:nvSpPr>
          <p:cNvPr id="18" name="Text 16"/>
          <p:cNvSpPr/>
          <p:nvPr/>
        </p:nvSpPr>
        <p:spPr>
          <a:xfrm>
            <a:off x="960120" y="2990088"/>
            <a:ext cx="3474720" cy="320040"/>
          </a:xfrm>
          <a:prstGeom prst="rect">
            <a:avLst/>
          </a:prstGeom>
          <a:noFill/>
          <a:ln/>
        </p:spPr>
        <p:txBody>
          <a:bodyPr wrap="square" lIns="0" tIns="0" rIns="0" bIns="0" rtlCol="0" anchor="ctr"/>
          <a:lstStyle/>
          <a:p>
            <a:pPr marL="0" indent="0">
              <a:buNone/>
            </a:pPr>
            <a:r>
              <a:rPr lang="en-US" sz="2000" b="1" dirty="0">
                <a:solidFill>
                  <a:srgbClr val="0F7173"/>
                </a:solidFill>
                <a:latin typeface="Times New Roman" panose="02020603050405020304" pitchFamily="18" charset="0"/>
                <a:ea typeface="Calibri" pitchFamily="34" charset="-122"/>
                <a:cs typeface="Times New Roman" panose="02020603050405020304" pitchFamily="18" charset="0"/>
              </a:rPr>
              <a:t>Data Type</a:t>
            </a:r>
            <a:endParaRPr lang="en-US" sz="2000" dirty="0">
              <a:latin typeface="Times New Roman" panose="02020603050405020304" pitchFamily="18" charset="0"/>
              <a:cs typeface="Times New Roman" panose="02020603050405020304" pitchFamily="18" charset="0"/>
            </a:endParaRPr>
          </a:p>
        </p:txBody>
      </p:sp>
      <p:sp>
        <p:nvSpPr>
          <p:cNvPr id="19" name="Text 17"/>
          <p:cNvSpPr/>
          <p:nvPr/>
        </p:nvSpPr>
        <p:spPr>
          <a:xfrm>
            <a:off x="960120" y="3319272"/>
            <a:ext cx="3474720" cy="1051560"/>
          </a:xfrm>
          <a:prstGeom prst="rect">
            <a:avLst/>
          </a:prstGeom>
          <a:noFill/>
          <a:ln/>
        </p:spPr>
        <p:txBody>
          <a:bodyPr wrap="square" rtlCol="0" anchor="t"/>
          <a:lstStyle/>
          <a:p>
            <a:pPr marL="0" indent="0">
              <a:buNone/>
            </a:pPr>
            <a:r>
              <a:rPr lang="en-US" dirty="0">
                <a:solidFill>
                  <a:srgbClr val="1E2D3D"/>
                </a:solidFill>
                <a:latin typeface="Times New Roman" panose="02020603050405020304" pitchFamily="18" charset="0"/>
                <a:ea typeface="Calibri" pitchFamily="34" charset="-122"/>
                <a:cs typeface="Times New Roman" panose="02020603050405020304" pitchFamily="18" charset="0"/>
              </a:rPr>
              <a:t>Bulk RNA-seq count matrix. FPKM normalized. Human reference genome GRCh38 alignment via TopHat2.</a:t>
            </a:r>
            <a:endParaRPr lang="en-US" dirty="0">
              <a:latin typeface="Times New Roman" panose="02020603050405020304" pitchFamily="18" charset="0"/>
              <a:cs typeface="Times New Roman" panose="02020603050405020304" pitchFamily="18" charset="0"/>
            </a:endParaRPr>
          </a:p>
        </p:txBody>
      </p:sp>
      <p:sp>
        <p:nvSpPr>
          <p:cNvPr id="20" name="Shape 18"/>
          <p:cNvSpPr/>
          <p:nvPr/>
        </p:nvSpPr>
        <p:spPr>
          <a:xfrm>
            <a:off x="4709160" y="2880360"/>
            <a:ext cx="4160520" cy="1600200"/>
          </a:xfrm>
          <a:prstGeom prst="rect">
            <a:avLst/>
          </a:prstGeom>
          <a:solidFill>
            <a:srgbClr val="FFFFFF"/>
          </a:solidFill>
          <a:ln w="12700">
            <a:solidFill>
              <a:srgbClr val="E2E8F0"/>
            </a:solidFill>
            <a:prstDash val="solid"/>
          </a:ln>
          <a:effectLst>
            <a:outerShdw blurRad="50800" dist="12700" dir="8100000" algn="bl" rotWithShape="0">
              <a:srgbClr val="000000">
                <a:alpha val="7000"/>
              </a:srgbClr>
            </a:outerShdw>
          </a:effectLst>
        </p:spPr>
        <p:txBody>
          <a:bodyPr/>
          <a:lstStyle/>
          <a:p>
            <a:endParaRPr lang="en-US"/>
          </a:p>
        </p:txBody>
      </p:sp>
      <p:sp>
        <p:nvSpPr>
          <p:cNvPr id="21" name="Shape 19"/>
          <p:cNvSpPr/>
          <p:nvPr/>
        </p:nvSpPr>
        <p:spPr>
          <a:xfrm>
            <a:off x="4709160" y="2880360"/>
            <a:ext cx="502920" cy="1600200"/>
          </a:xfrm>
          <a:prstGeom prst="rect">
            <a:avLst/>
          </a:prstGeom>
          <a:solidFill>
            <a:srgbClr val="0D2B45"/>
          </a:solidFill>
          <a:ln w="12700">
            <a:solidFill>
              <a:srgbClr val="0D2B45"/>
            </a:solidFill>
            <a:prstDash val="solid"/>
          </a:ln>
        </p:spPr>
        <p:txBody>
          <a:bodyPr/>
          <a:lstStyle/>
          <a:p>
            <a:endParaRPr lang="en-US"/>
          </a:p>
        </p:txBody>
      </p:sp>
      <p:sp>
        <p:nvSpPr>
          <p:cNvPr id="22" name="Text 20"/>
          <p:cNvSpPr/>
          <p:nvPr/>
        </p:nvSpPr>
        <p:spPr>
          <a:xfrm>
            <a:off x="4709160" y="3383280"/>
            <a:ext cx="502920" cy="59436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④</a:t>
            </a:r>
            <a:endParaRPr lang="en-US" sz="1800" dirty="0"/>
          </a:p>
        </p:txBody>
      </p:sp>
      <p:sp>
        <p:nvSpPr>
          <p:cNvPr id="23" name="Text 21"/>
          <p:cNvSpPr/>
          <p:nvPr/>
        </p:nvSpPr>
        <p:spPr>
          <a:xfrm>
            <a:off x="5303520" y="2990088"/>
            <a:ext cx="3474720" cy="320040"/>
          </a:xfrm>
          <a:prstGeom prst="rect">
            <a:avLst/>
          </a:prstGeom>
          <a:noFill/>
          <a:ln/>
        </p:spPr>
        <p:txBody>
          <a:bodyPr wrap="square" lIns="0" tIns="0" rIns="0" bIns="0" rtlCol="0" anchor="ctr"/>
          <a:lstStyle/>
          <a:p>
            <a:pPr marL="0" indent="0">
              <a:buNone/>
            </a:pPr>
            <a:r>
              <a:rPr lang="en-US" sz="2000" b="1" dirty="0">
                <a:solidFill>
                  <a:srgbClr val="0F7173"/>
                </a:solidFill>
                <a:latin typeface="Times New Roman" panose="02020603050405020304" pitchFamily="18" charset="0"/>
                <a:ea typeface="Calibri" pitchFamily="34" charset="-122"/>
                <a:cs typeface="Times New Roman" panose="02020603050405020304" pitchFamily="18" charset="0"/>
              </a:rPr>
              <a:t>Import in R</a:t>
            </a:r>
            <a:endParaRPr lang="en-US" sz="2000" dirty="0">
              <a:latin typeface="Times New Roman" panose="02020603050405020304" pitchFamily="18" charset="0"/>
              <a:cs typeface="Times New Roman" panose="02020603050405020304" pitchFamily="18" charset="0"/>
            </a:endParaRPr>
          </a:p>
        </p:txBody>
      </p:sp>
      <p:sp>
        <p:nvSpPr>
          <p:cNvPr id="24" name="Text 22"/>
          <p:cNvSpPr/>
          <p:nvPr/>
        </p:nvSpPr>
        <p:spPr>
          <a:xfrm>
            <a:off x="5303520" y="3319272"/>
            <a:ext cx="3474720" cy="1051560"/>
          </a:xfrm>
          <a:prstGeom prst="rect">
            <a:avLst/>
          </a:prstGeom>
          <a:noFill/>
          <a:ln/>
        </p:spPr>
        <p:txBody>
          <a:bodyPr wrap="square" rtlCol="0" anchor="t"/>
          <a:lstStyle/>
          <a:p>
            <a:pPr marL="0" indent="0">
              <a:buNone/>
            </a:pPr>
            <a:r>
              <a:rPr lang="en-US" dirty="0">
                <a:solidFill>
                  <a:srgbClr val="1E2D3D"/>
                </a:solidFill>
                <a:latin typeface="Times New Roman" panose="02020603050405020304" pitchFamily="18" charset="0"/>
                <a:ea typeface="Calibri" pitchFamily="34" charset="-122"/>
                <a:cs typeface="Times New Roman" panose="02020603050405020304" pitchFamily="18" charset="0"/>
              </a:rPr>
              <a:t>Data loaded into R environment. Gene expression matrix prepared for downstream QC and differential expression analysis</a:t>
            </a:r>
            <a:r>
              <a:rPr lang="en-US" sz="1150" dirty="0">
                <a:solidFill>
                  <a:srgbClr val="1E2D3D"/>
                </a:solidFill>
                <a:latin typeface="Calibri" pitchFamily="34" charset="0"/>
                <a:ea typeface="Calibri" pitchFamily="34" charset="-122"/>
                <a:cs typeface="Calibri" pitchFamily="34" charset="-120"/>
              </a:rPr>
              <a:t>.</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4F8F9"/>
        </a:solidFill>
        <a:effectLst/>
      </p:bgPr>
    </p:bg>
    <p:spTree>
      <p:nvGrpSpPr>
        <p:cNvPr id="1" name=""/>
        <p:cNvGrpSpPr/>
        <p:nvPr/>
      </p:nvGrpSpPr>
      <p:grpSpPr>
        <a:xfrm>
          <a:off x="0" y="0"/>
          <a:ext cx="0" cy="0"/>
          <a:chOff x="0" y="0"/>
          <a:chExt cx="0" cy="0"/>
        </a:xfrm>
      </p:grpSpPr>
      <p:sp>
        <p:nvSpPr>
          <p:cNvPr id="2" name="Text 0"/>
          <p:cNvSpPr/>
          <p:nvPr/>
        </p:nvSpPr>
        <p:spPr>
          <a:xfrm>
            <a:off x="358859" y="182880"/>
            <a:ext cx="9512348" cy="502920"/>
          </a:xfrm>
          <a:prstGeom prst="rect">
            <a:avLst/>
          </a:prstGeom>
          <a:noFill/>
          <a:ln/>
        </p:spPr>
        <p:txBody>
          <a:bodyPr wrap="square" lIns="0" tIns="0" rIns="0" bIns="0" rtlCol="0" anchor="ctr"/>
          <a:lstStyle/>
          <a:p>
            <a:pPr marL="0" indent="0">
              <a:buNone/>
            </a:pPr>
            <a:r>
              <a:rPr lang="en-US" sz="4000" b="1" dirty="0">
                <a:solidFill>
                  <a:srgbClr val="0D2B45"/>
                </a:solidFill>
                <a:latin typeface="Times New Roman" panose="02020603050405020304" pitchFamily="18" charset="0"/>
                <a:ea typeface="Calibri" pitchFamily="34" charset="-122"/>
                <a:cs typeface="Times New Roman" panose="02020603050405020304" pitchFamily="18" charset="0"/>
              </a:rPr>
              <a:t>Methodology — Differential Expression</a:t>
            </a:r>
            <a:endParaRPr lang="en-US" sz="4000" dirty="0">
              <a:latin typeface="Times New Roman" panose="02020603050405020304" pitchFamily="18" charset="0"/>
              <a:cs typeface="Times New Roman" panose="02020603050405020304" pitchFamily="18" charset="0"/>
            </a:endParaRPr>
          </a:p>
        </p:txBody>
      </p:sp>
      <p:sp>
        <p:nvSpPr>
          <p:cNvPr id="3" name="Text 1"/>
          <p:cNvSpPr/>
          <p:nvPr/>
        </p:nvSpPr>
        <p:spPr>
          <a:xfrm>
            <a:off x="502920" y="658368"/>
            <a:ext cx="8412480" cy="256032"/>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DESeq2 · R Bioconductor</a:t>
            </a:r>
            <a:endParaRPr lang="en-US" sz="1300" dirty="0"/>
          </a:p>
        </p:txBody>
      </p:sp>
      <p:sp>
        <p:nvSpPr>
          <p:cNvPr id="4" name="Shape 2"/>
          <p:cNvSpPr/>
          <p:nvPr/>
        </p:nvSpPr>
        <p:spPr>
          <a:xfrm>
            <a:off x="365760" y="932688"/>
            <a:ext cx="8412480" cy="27432"/>
          </a:xfrm>
          <a:prstGeom prst="rect">
            <a:avLst/>
          </a:prstGeom>
          <a:solidFill>
            <a:srgbClr val="0F7173"/>
          </a:solidFill>
          <a:ln w="12700">
            <a:solidFill>
              <a:srgbClr val="0F7173"/>
            </a:solidFill>
            <a:prstDash val="solid"/>
          </a:ln>
        </p:spPr>
        <p:txBody>
          <a:bodyPr/>
          <a:lstStyle/>
          <a:p>
            <a:endParaRPr lang="en-US"/>
          </a:p>
        </p:txBody>
      </p:sp>
      <p:sp>
        <p:nvSpPr>
          <p:cNvPr id="5" name="Shape 3"/>
          <p:cNvSpPr/>
          <p:nvPr/>
        </p:nvSpPr>
        <p:spPr>
          <a:xfrm>
            <a:off x="365760" y="1051560"/>
            <a:ext cx="5029200" cy="3749040"/>
          </a:xfrm>
          <a:prstGeom prst="rect">
            <a:avLst/>
          </a:prstGeom>
          <a:solidFill>
            <a:srgbClr val="FFFFFF"/>
          </a:solidFill>
          <a:ln w="12700">
            <a:solidFill>
              <a:srgbClr val="E2E8F0"/>
            </a:solidFill>
            <a:prstDash val="solid"/>
          </a:ln>
        </p:spPr>
        <p:txBody>
          <a:bodyPr/>
          <a:lstStyle/>
          <a:p>
            <a:endParaRPr lang="en-US"/>
          </a:p>
        </p:txBody>
      </p:sp>
      <p:sp>
        <p:nvSpPr>
          <p:cNvPr id="6" name="Text 4"/>
          <p:cNvSpPr/>
          <p:nvPr/>
        </p:nvSpPr>
        <p:spPr>
          <a:xfrm>
            <a:off x="502920" y="1097280"/>
            <a:ext cx="4754880" cy="365760"/>
          </a:xfrm>
          <a:prstGeom prst="rect">
            <a:avLst/>
          </a:prstGeom>
          <a:noFill/>
          <a:ln/>
        </p:spPr>
        <p:txBody>
          <a:bodyPr wrap="square" lIns="0" tIns="0" rIns="0" bIns="0" rtlCol="0" anchor="ctr"/>
          <a:lstStyle/>
          <a:p>
            <a:pPr marL="0" indent="0">
              <a:buNone/>
            </a:pPr>
            <a:r>
              <a:rPr lang="en-US" sz="2000" b="1" dirty="0">
                <a:solidFill>
                  <a:srgbClr val="0D2B45"/>
                </a:solidFill>
                <a:latin typeface="Times New Roman" panose="02020603050405020304" pitchFamily="18" charset="0"/>
                <a:ea typeface="Calibri" pitchFamily="34" charset="-122"/>
                <a:cs typeface="Times New Roman" panose="02020603050405020304" pitchFamily="18" charset="0"/>
              </a:rPr>
              <a:t>DESeq2 Workflow</a:t>
            </a:r>
            <a:endParaRPr lang="en-US" sz="2000" dirty="0">
              <a:latin typeface="Times New Roman" panose="02020603050405020304" pitchFamily="18" charset="0"/>
              <a:cs typeface="Times New Roman" panose="02020603050405020304" pitchFamily="18" charset="0"/>
            </a:endParaRPr>
          </a:p>
        </p:txBody>
      </p:sp>
      <p:sp>
        <p:nvSpPr>
          <p:cNvPr id="7" name="Text 5"/>
          <p:cNvSpPr/>
          <p:nvPr/>
        </p:nvSpPr>
        <p:spPr>
          <a:xfrm>
            <a:off x="502920" y="1508760"/>
            <a:ext cx="4754880" cy="3108960"/>
          </a:xfrm>
          <a:prstGeom prst="rect">
            <a:avLst/>
          </a:prstGeom>
          <a:noFill/>
          <a:ln/>
        </p:spPr>
        <p:txBody>
          <a:bodyPr wrap="square" rtlCol="0" anchor="ctr"/>
          <a:lstStyle/>
          <a:p>
            <a:pPr marL="342900" indent="-342900">
              <a:buSzPct val="100000"/>
              <a:buChar char="•"/>
            </a:pPr>
            <a:r>
              <a:rPr lang="en-US" dirty="0">
                <a:solidFill>
                  <a:srgbClr val="1E2D3D"/>
                </a:solidFill>
                <a:latin typeface="Times New Roman" panose="02020603050405020304" pitchFamily="18" charset="0"/>
                <a:ea typeface="Calibri" pitchFamily="34" charset="-122"/>
                <a:cs typeface="Times New Roman" panose="02020603050405020304" pitchFamily="18" charset="0"/>
              </a:rPr>
              <a:t>Raw count matrix imported into R</a:t>
            </a:r>
            <a:endParaRPr lang="en-US" dirty="0">
              <a:latin typeface="Times New Roman" panose="02020603050405020304" pitchFamily="18" charset="0"/>
              <a:cs typeface="Times New Roman" panose="02020603050405020304" pitchFamily="18" charset="0"/>
            </a:endParaRPr>
          </a:p>
          <a:p>
            <a:pPr marL="342900" indent="-342900">
              <a:buSzPct val="100000"/>
              <a:buChar char="•"/>
            </a:pPr>
            <a:r>
              <a:rPr lang="en-US" dirty="0">
                <a:solidFill>
                  <a:srgbClr val="1E2D3D"/>
                </a:solidFill>
                <a:latin typeface="Times New Roman" panose="02020603050405020304" pitchFamily="18" charset="0"/>
                <a:ea typeface="Calibri" pitchFamily="34" charset="-122"/>
                <a:cs typeface="Times New Roman" panose="02020603050405020304" pitchFamily="18" charset="0"/>
              </a:rPr>
              <a:t>DESeqDataSetFromMatrix() used to build the model.</a:t>
            </a:r>
            <a:endParaRPr lang="en-US" dirty="0">
              <a:latin typeface="Times New Roman" panose="02020603050405020304" pitchFamily="18" charset="0"/>
              <a:cs typeface="Times New Roman" panose="02020603050405020304" pitchFamily="18" charset="0"/>
            </a:endParaRPr>
          </a:p>
          <a:p>
            <a:pPr marL="342900" indent="-342900">
              <a:buSzPct val="100000"/>
              <a:buChar char="•"/>
            </a:pPr>
            <a:r>
              <a:rPr lang="en-US" dirty="0">
                <a:solidFill>
                  <a:srgbClr val="1E2D3D"/>
                </a:solidFill>
                <a:latin typeface="Times New Roman" panose="02020603050405020304" pitchFamily="18" charset="0"/>
                <a:ea typeface="Calibri" pitchFamily="34" charset="-122"/>
                <a:cs typeface="Times New Roman" panose="02020603050405020304" pitchFamily="18" charset="0"/>
              </a:rPr>
              <a:t>Counts normalized using DESeq2's median-of-ratios method.</a:t>
            </a:r>
            <a:endParaRPr lang="en-US" dirty="0">
              <a:latin typeface="Times New Roman" panose="02020603050405020304" pitchFamily="18" charset="0"/>
              <a:cs typeface="Times New Roman" panose="02020603050405020304" pitchFamily="18" charset="0"/>
            </a:endParaRPr>
          </a:p>
          <a:p>
            <a:pPr marL="342900" indent="-342900">
              <a:buSzPct val="100000"/>
              <a:buChar char="•"/>
            </a:pPr>
            <a:r>
              <a:rPr lang="en-US" dirty="0">
                <a:solidFill>
                  <a:srgbClr val="1E2D3D"/>
                </a:solidFill>
                <a:latin typeface="Times New Roman" panose="02020603050405020304" pitchFamily="18" charset="0"/>
                <a:ea typeface="Calibri" pitchFamily="34" charset="-122"/>
                <a:cs typeface="Times New Roman" panose="02020603050405020304" pitchFamily="18" charset="0"/>
              </a:rPr>
              <a:t>Wald test for differential expression.</a:t>
            </a:r>
            <a:endParaRPr lang="en-US" dirty="0">
              <a:latin typeface="Times New Roman" panose="02020603050405020304" pitchFamily="18" charset="0"/>
              <a:cs typeface="Times New Roman" panose="02020603050405020304" pitchFamily="18" charset="0"/>
            </a:endParaRPr>
          </a:p>
          <a:p>
            <a:pPr marL="342900" indent="-342900">
              <a:buSzPct val="100000"/>
              <a:buChar char="•"/>
            </a:pPr>
            <a:r>
              <a:rPr lang="en-US" dirty="0">
                <a:solidFill>
                  <a:srgbClr val="1E2D3D"/>
                </a:solidFill>
                <a:latin typeface="Times New Roman" panose="02020603050405020304" pitchFamily="18" charset="0"/>
                <a:ea typeface="Calibri" pitchFamily="34" charset="-122"/>
                <a:cs typeface="Times New Roman" panose="02020603050405020304" pitchFamily="18" charset="0"/>
              </a:rPr>
              <a:t>Cutoffs: adjusted p-value &lt; 0.05 and |log₂FC| &gt; 1.</a:t>
            </a:r>
            <a:endParaRPr lang="en-US" dirty="0">
              <a:latin typeface="Times New Roman" panose="02020603050405020304" pitchFamily="18" charset="0"/>
              <a:cs typeface="Times New Roman" panose="02020603050405020304" pitchFamily="18" charset="0"/>
            </a:endParaRPr>
          </a:p>
          <a:p>
            <a:pPr marL="342900" indent="-342900">
              <a:buSzPct val="100000"/>
              <a:buChar char="•"/>
            </a:pPr>
            <a:r>
              <a:rPr lang="en-US" dirty="0">
                <a:solidFill>
                  <a:srgbClr val="1E2D3D"/>
                </a:solidFill>
                <a:latin typeface="Times New Roman" panose="02020603050405020304" pitchFamily="18" charset="0"/>
                <a:ea typeface="Calibri" pitchFamily="34" charset="-122"/>
                <a:cs typeface="Times New Roman" panose="02020603050405020304" pitchFamily="18" charset="0"/>
              </a:rPr>
              <a:t>Results exported for visualization &amp; enrichment analysis.</a:t>
            </a:r>
            <a:endParaRPr lang="en-US" dirty="0">
              <a:latin typeface="Times New Roman" panose="02020603050405020304" pitchFamily="18" charset="0"/>
              <a:cs typeface="Times New Roman" panose="02020603050405020304" pitchFamily="18" charset="0"/>
            </a:endParaRPr>
          </a:p>
        </p:txBody>
      </p:sp>
      <p:sp>
        <p:nvSpPr>
          <p:cNvPr id="8" name="Shape 6"/>
          <p:cNvSpPr/>
          <p:nvPr/>
        </p:nvSpPr>
        <p:spPr>
          <a:xfrm>
            <a:off x="5577840" y="1051560"/>
            <a:ext cx="3200400" cy="1737360"/>
          </a:xfrm>
          <a:prstGeom prst="rect">
            <a:avLst/>
          </a:prstGeom>
          <a:solidFill>
            <a:srgbClr val="0F7173"/>
          </a:solidFill>
          <a:ln w="12700">
            <a:solidFill>
              <a:srgbClr val="0F7173"/>
            </a:solidFill>
            <a:prstDash val="solid"/>
          </a:ln>
        </p:spPr>
        <p:txBody>
          <a:bodyPr/>
          <a:lstStyle/>
          <a:p>
            <a:endParaRPr lang="en-US"/>
          </a:p>
        </p:txBody>
      </p:sp>
      <p:sp>
        <p:nvSpPr>
          <p:cNvPr id="9" name="Text 7"/>
          <p:cNvSpPr/>
          <p:nvPr/>
        </p:nvSpPr>
        <p:spPr>
          <a:xfrm>
            <a:off x="5669280" y="1097280"/>
            <a:ext cx="3017520" cy="347472"/>
          </a:xfrm>
          <a:prstGeom prst="rect">
            <a:avLst/>
          </a:prstGeom>
          <a:noFill/>
          <a:ln/>
        </p:spPr>
        <p:txBody>
          <a:bodyPr wrap="square" lIns="0" tIns="0" rIns="0" bIns="0" rtlCol="0" anchor="ctr"/>
          <a:lstStyle/>
          <a:p>
            <a:pPr marL="0" indent="0">
              <a:buNone/>
            </a:pPr>
            <a:r>
              <a:rPr lang="en-US" sz="2000" b="1" dirty="0">
                <a:solidFill>
                  <a:srgbClr val="FFFFFF"/>
                </a:solidFill>
                <a:latin typeface="Times New Roman" panose="02020603050405020304" pitchFamily="18" charset="0"/>
                <a:ea typeface="Calibri" pitchFamily="34" charset="-122"/>
                <a:cs typeface="Times New Roman" panose="02020603050405020304" pitchFamily="18" charset="0"/>
              </a:rPr>
              <a:t>Significance Thresholds</a:t>
            </a:r>
            <a:endParaRPr lang="en-US" sz="2000" dirty="0">
              <a:latin typeface="Times New Roman" panose="02020603050405020304" pitchFamily="18" charset="0"/>
              <a:cs typeface="Times New Roman" panose="02020603050405020304" pitchFamily="18" charset="0"/>
            </a:endParaRPr>
          </a:p>
        </p:txBody>
      </p:sp>
      <p:sp>
        <p:nvSpPr>
          <p:cNvPr id="10" name="Text 8"/>
          <p:cNvSpPr/>
          <p:nvPr/>
        </p:nvSpPr>
        <p:spPr>
          <a:xfrm>
            <a:off x="5669280" y="1508760"/>
            <a:ext cx="3017520" cy="1097280"/>
          </a:xfrm>
          <a:prstGeom prst="rect">
            <a:avLst/>
          </a:prstGeom>
          <a:noFill/>
          <a:ln/>
        </p:spPr>
        <p:txBody>
          <a:bodyPr wrap="square" rtlCol="0" anchor="ctr"/>
          <a:lstStyle/>
          <a:p>
            <a:pPr marL="0" indent="0">
              <a:buNone/>
            </a:pPr>
            <a:r>
              <a:rPr lang="en-US" dirty="0">
                <a:solidFill>
                  <a:srgbClr val="FFFFFF"/>
                </a:solidFill>
                <a:latin typeface="Times New Roman" panose="02020603050405020304" pitchFamily="18" charset="0"/>
                <a:ea typeface="Calibri" pitchFamily="34" charset="-122"/>
                <a:cs typeface="Times New Roman" panose="02020603050405020304" pitchFamily="18" charset="0"/>
              </a:rPr>
              <a:t>Adj. p-value:  </a:t>
            </a:r>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&lt; 0.05</a:t>
            </a:r>
            <a:r>
              <a:rPr lang="en-US" dirty="0">
                <a:solidFill>
                  <a:srgbClr val="FFFFFF"/>
                </a:solidFill>
                <a:latin typeface="Times New Roman" panose="02020603050405020304" pitchFamily="18" charset="0"/>
                <a:ea typeface="Calibri" pitchFamily="34" charset="-122"/>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marL="0" indent="0">
              <a:buNone/>
            </a:pPr>
            <a:r>
              <a:rPr lang="en-US" dirty="0">
                <a:solidFill>
                  <a:srgbClr val="FFFFFF"/>
                </a:solidFill>
                <a:latin typeface="Times New Roman" panose="02020603050405020304" pitchFamily="18" charset="0"/>
                <a:ea typeface="Calibri" pitchFamily="34" charset="-122"/>
                <a:cs typeface="Times New Roman" panose="02020603050405020304" pitchFamily="18" charset="0"/>
              </a:rPr>
              <a:t>|log₂FC|:  </a:t>
            </a:r>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&gt; 1</a:t>
            </a:r>
            <a:endParaRPr lang="en-US" dirty="0">
              <a:latin typeface="Times New Roman" panose="02020603050405020304" pitchFamily="18" charset="0"/>
              <a:cs typeface="Times New Roman" panose="02020603050405020304" pitchFamily="18" charset="0"/>
            </a:endParaRPr>
          </a:p>
        </p:txBody>
      </p:sp>
      <p:sp>
        <p:nvSpPr>
          <p:cNvPr id="11" name="Shape 9"/>
          <p:cNvSpPr/>
          <p:nvPr/>
        </p:nvSpPr>
        <p:spPr>
          <a:xfrm>
            <a:off x="5577840" y="2852928"/>
            <a:ext cx="3200400" cy="2107692"/>
          </a:xfrm>
          <a:prstGeom prst="rect">
            <a:avLst/>
          </a:prstGeom>
          <a:solidFill>
            <a:srgbClr val="0D2B45"/>
          </a:solidFill>
          <a:ln w="12700">
            <a:solidFill>
              <a:srgbClr val="0D2B45"/>
            </a:solidFill>
            <a:prstDash val="solid"/>
          </a:ln>
        </p:spPr>
        <p:txBody>
          <a:bodyPr/>
          <a:lstStyle/>
          <a:p>
            <a:endParaRPr lang="en-US"/>
          </a:p>
        </p:txBody>
      </p:sp>
      <p:sp>
        <p:nvSpPr>
          <p:cNvPr id="12" name="Text 10"/>
          <p:cNvSpPr/>
          <p:nvPr/>
        </p:nvSpPr>
        <p:spPr>
          <a:xfrm>
            <a:off x="5669280" y="2874322"/>
            <a:ext cx="3017520" cy="347472"/>
          </a:xfrm>
          <a:prstGeom prst="rect">
            <a:avLst/>
          </a:prstGeom>
          <a:noFill/>
          <a:ln/>
        </p:spPr>
        <p:txBody>
          <a:bodyPr wrap="square" lIns="0" tIns="0" rIns="0" bIns="0" rtlCol="0" anchor="ctr"/>
          <a:lstStyle/>
          <a:p>
            <a:pPr marL="0" indent="0">
              <a:buNone/>
            </a:pPr>
            <a:r>
              <a:rPr lang="en-US" sz="2000" b="1" dirty="0">
                <a:solidFill>
                  <a:srgbClr val="0F7173"/>
                </a:solidFill>
                <a:latin typeface="Times New Roman" panose="02020603050405020304" pitchFamily="18" charset="0"/>
                <a:ea typeface="Calibri" pitchFamily="34" charset="-122"/>
                <a:cs typeface="Times New Roman" panose="02020603050405020304" pitchFamily="18" charset="0"/>
              </a:rPr>
              <a:t>R Packages Used</a:t>
            </a:r>
            <a:endParaRPr lang="en-US" sz="2000" dirty="0">
              <a:latin typeface="Times New Roman" panose="02020603050405020304" pitchFamily="18" charset="0"/>
              <a:cs typeface="Times New Roman" panose="02020603050405020304" pitchFamily="18" charset="0"/>
            </a:endParaRPr>
          </a:p>
        </p:txBody>
      </p:sp>
      <p:sp>
        <p:nvSpPr>
          <p:cNvPr id="13" name="Text 11"/>
          <p:cNvSpPr/>
          <p:nvPr/>
        </p:nvSpPr>
        <p:spPr>
          <a:xfrm>
            <a:off x="5715000" y="3364992"/>
            <a:ext cx="2926080" cy="1325880"/>
          </a:xfrm>
          <a:prstGeom prst="rect">
            <a:avLst/>
          </a:prstGeom>
          <a:noFill/>
          <a:ln/>
        </p:spPr>
        <p:txBody>
          <a:bodyPr wrap="square" rtlCol="0" anchor="ctr"/>
          <a:lstStyle/>
          <a:p>
            <a:pPr marL="342900" indent="-342900">
              <a:buSzPct val="100000"/>
              <a:buChar char="•"/>
            </a:pPr>
            <a:r>
              <a:rPr lang="en-US" dirty="0">
                <a:solidFill>
                  <a:srgbClr val="A0C4D8"/>
                </a:solidFill>
                <a:latin typeface="Times New Roman" panose="02020603050405020304" pitchFamily="18" charset="0"/>
                <a:ea typeface="Calibri" pitchFamily="34" charset="-122"/>
                <a:cs typeface="Times New Roman" panose="02020603050405020304" pitchFamily="18" charset="0"/>
              </a:rPr>
              <a:t>DESeq2</a:t>
            </a:r>
            <a:endParaRPr lang="en-US" dirty="0">
              <a:latin typeface="Times New Roman" panose="02020603050405020304" pitchFamily="18" charset="0"/>
              <a:cs typeface="Times New Roman" panose="02020603050405020304" pitchFamily="18" charset="0"/>
            </a:endParaRPr>
          </a:p>
          <a:p>
            <a:pPr marL="342900" indent="-342900">
              <a:buSzPct val="100000"/>
              <a:buChar char="•"/>
            </a:pPr>
            <a:r>
              <a:rPr lang="en-US" dirty="0">
                <a:solidFill>
                  <a:srgbClr val="A0C4D8"/>
                </a:solidFill>
                <a:latin typeface="Times New Roman" panose="02020603050405020304" pitchFamily="18" charset="0"/>
                <a:ea typeface="Calibri" pitchFamily="34" charset="-122"/>
                <a:cs typeface="Times New Roman" panose="02020603050405020304" pitchFamily="18" charset="0"/>
              </a:rPr>
              <a:t>ggplot2</a:t>
            </a:r>
            <a:endParaRPr lang="en-US" dirty="0">
              <a:latin typeface="Times New Roman" panose="02020603050405020304" pitchFamily="18" charset="0"/>
              <a:cs typeface="Times New Roman" panose="02020603050405020304" pitchFamily="18" charset="0"/>
            </a:endParaRPr>
          </a:p>
          <a:p>
            <a:pPr marL="342900" indent="-342900">
              <a:buSzPct val="100000"/>
              <a:buChar char="•"/>
            </a:pPr>
            <a:r>
              <a:rPr lang="en-US" dirty="0">
                <a:solidFill>
                  <a:srgbClr val="A0C4D8"/>
                </a:solidFill>
                <a:latin typeface="Times New Roman" panose="02020603050405020304" pitchFamily="18" charset="0"/>
                <a:ea typeface="Calibri" pitchFamily="34" charset="-122"/>
                <a:cs typeface="Times New Roman" panose="02020603050405020304" pitchFamily="18" charset="0"/>
              </a:rPr>
              <a:t>EnhancedVolcano</a:t>
            </a:r>
            <a:endParaRPr lang="en-US" dirty="0">
              <a:latin typeface="Times New Roman" panose="02020603050405020304" pitchFamily="18" charset="0"/>
              <a:cs typeface="Times New Roman" panose="02020603050405020304" pitchFamily="18" charset="0"/>
            </a:endParaRPr>
          </a:p>
          <a:p>
            <a:pPr marL="342900" indent="-342900">
              <a:buSzPct val="100000"/>
              <a:buChar char="•"/>
            </a:pPr>
            <a:r>
              <a:rPr lang="en-US" dirty="0">
                <a:solidFill>
                  <a:srgbClr val="A0C4D8"/>
                </a:solidFill>
                <a:latin typeface="Times New Roman" panose="02020603050405020304" pitchFamily="18" charset="0"/>
                <a:ea typeface="Calibri" pitchFamily="34" charset="-122"/>
                <a:cs typeface="Times New Roman" panose="02020603050405020304" pitchFamily="18" charset="0"/>
              </a:rPr>
              <a:t>pheatmap</a:t>
            </a:r>
            <a:endParaRPr lang="en-US" dirty="0">
              <a:latin typeface="Times New Roman" panose="02020603050405020304" pitchFamily="18" charset="0"/>
              <a:cs typeface="Times New Roman" panose="02020603050405020304" pitchFamily="18" charset="0"/>
            </a:endParaRPr>
          </a:p>
          <a:p>
            <a:pPr marL="342900" indent="-342900">
              <a:buSzPct val="100000"/>
              <a:buChar char="•"/>
            </a:pPr>
            <a:r>
              <a:rPr lang="en-US" dirty="0">
                <a:solidFill>
                  <a:srgbClr val="A0C4D8"/>
                </a:solidFill>
                <a:latin typeface="Times New Roman" panose="02020603050405020304" pitchFamily="18" charset="0"/>
                <a:ea typeface="Calibri" pitchFamily="34" charset="-122"/>
                <a:cs typeface="Times New Roman" panose="02020603050405020304" pitchFamily="18" charset="0"/>
              </a:rPr>
              <a:t>clusterProfiler</a:t>
            </a:r>
            <a:endParaRPr lang="en-US" dirty="0">
              <a:latin typeface="Times New Roman" panose="02020603050405020304" pitchFamily="18" charset="0"/>
              <a:cs typeface="Times New Roman" panose="02020603050405020304" pitchFamily="18" charset="0"/>
            </a:endParaRPr>
          </a:p>
          <a:p>
            <a:pPr marL="342900" indent="-342900">
              <a:buSzPct val="100000"/>
              <a:buChar char="•"/>
            </a:pPr>
            <a:r>
              <a:rPr lang="en-US" dirty="0">
                <a:solidFill>
                  <a:srgbClr val="A0C4D8"/>
                </a:solidFill>
                <a:latin typeface="Times New Roman" panose="02020603050405020304" pitchFamily="18" charset="0"/>
                <a:ea typeface="Calibri" pitchFamily="34" charset="-122"/>
                <a:cs typeface="Times New Roman" panose="02020603050405020304" pitchFamily="18" charset="0"/>
              </a:rPr>
              <a:t>pathview</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4F8F9"/>
        </a:solidFill>
        <a:effectLst/>
      </p:bgPr>
    </p:bg>
    <p:spTree>
      <p:nvGrpSpPr>
        <p:cNvPr id="1" name=""/>
        <p:cNvGrpSpPr/>
        <p:nvPr/>
      </p:nvGrpSpPr>
      <p:grpSpPr>
        <a:xfrm>
          <a:off x="0" y="0"/>
          <a:ext cx="0" cy="0"/>
          <a:chOff x="0" y="0"/>
          <a:chExt cx="0" cy="0"/>
        </a:xfrm>
      </p:grpSpPr>
      <p:sp>
        <p:nvSpPr>
          <p:cNvPr id="2" name="Text 0"/>
          <p:cNvSpPr/>
          <p:nvPr/>
        </p:nvSpPr>
        <p:spPr>
          <a:xfrm>
            <a:off x="502920" y="182880"/>
            <a:ext cx="8412480" cy="502920"/>
          </a:xfrm>
          <a:prstGeom prst="rect">
            <a:avLst/>
          </a:prstGeom>
          <a:noFill/>
          <a:ln/>
        </p:spPr>
        <p:txBody>
          <a:bodyPr wrap="square" lIns="0" tIns="0" rIns="0" bIns="0" rtlCol="0" anchor="ctr"/>
          <a:lstStyle/>
          <a:p>
            <a:pPr marL="0" indent="0">
              <a:buNone/>
            </a:pPr>
            <a:r>
              <a:rPr lang="en-US" sz="4000" b="1" dirty="0">
                <a:solidFill>
                  <a:srgbClr val="0D2B45"/>
                </a:solidFill>
                <a:latin typeface="Times New Roman" panose="02020603050405020304" pitchFamily="18" charset="0"/>
                <a:ea typeface="Calibri" pitchFamily="34" charset="-122"/>
                <a:cs typeface="Times New Roman" panose="02020603050405020304" pitchFamily="18" charset="0"/>
              </a:rPr>
              <a:t>Quality Control — Box Plot</a:t>
            </a:r>
            <a:endParaRPr lang="en-US" sz="4000" dirty="0">
              <a:latin typeface="Times New Roman" panose="02020603050405020304" pitchFamily="18" charset="0"/>
              <a:cs typeface="Times New Roman" panose="02020603050405020304" pitchFamily="18" charset="0"/>
            </a:endParaRPr>
          </a:p>
        </p:txBody>
      </p:sp>
      <p:sp>
        <p:nvSpPr>
          <p:cNvPr id="3" name="Shape 1"/>
          <p:cNvSpPr/>
          <p:nvPr/>
        </p:nvSpPr>
        <p:spPr>
          <a:xfrm>
            <a:off x="365760" y="932688"/>
            <a:ext cx="8412480" cy="27432"/>
          </a:xfrm>
          <a:prstGeom prst="rect">
            <a:avLst/>
          </a:prstGeom>
          <a:solidFill>
            <a:srgbClr val="0F7173"/>
          </a:solidFill>
          <a:ln w="12700">
            <a:solidFill>
              <a:srgbClr val="0F7173"/>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457200" y="1051560"/>
            <a:ext cx="5303520" cy="3566160"/>
          </a:xfrm>
          <a:prstGeom prst="rect">
            <a:avLst/>
          </a:prstGeom>
        </p:spPr>
      </p:pic>
      <p:sp>
        <p:nvSpPr>
          <p:cNvPr id="5" name="Shape 2"/>
          <p:cNvSpPr/>
          <p:nvPr/>
        </p:nvSpPr>
        <p:spPr>
          <a:xfrm>
            <a:off x="5943599" y="1051560"/>
            <a:ext cx="3048575" cy="4012146"/>
          </a:xfrm>
          <a:prstGeom prst="rect">
            <a:avLst/>
          </a:prstGeom>
          <a:solidFill>
            <a:srgbClr val="FFFFFF"/>
          </a:solidFill>
          <a:ln w="12700">
            <a:solidFill>
              <a:srgbClr val="E2E8F0"/>
            </a:solidFill>
            <a:prstDash val="solid"/>
          </a:ln>
        </p:spPr>
        <p:txBody>
          <a:bodyPr/>
          <a:lstStyle/>
          <a:p>
            <a:endParaRPr lang="en-US"/>
          </a:p>
        </p:txBody>
      </p:sp>
      <p:sp>
        <p:nvSpPr>
          <p:cNvPr id="6" name="Text 3"/>
          <p:cNvSpPr/>
          <p:nvPr/>
        </p:nvSpPr>
        <p:spPr>
          <a:xfrm>
            <a:off x="6035040" y="1347274"/>
            <a:ext cx="2697480" cy="347472"/>
          </a:xfrm>
          <a:prstGeom prst="rect">
            <a:avLst/>
          </a:prstGeom>
          <a:noFill/>
          <a:ln/>
        </p:spPr>
        <p:txBody>
          <a:bodyPr wrap="square" lIns="0" tIns="0" rIns="0" bIns="0" rtlCol="0" anchor="ctr"/>
          <a:lstStyle/>
          <a:p>
            <a:r>
              <a:rPr lang="en-US" sz="2000" b="1" dirty="0">
                <a:solidFill>
                  <a:srgbClr val="0D2B45"/>
                </a:solidFill>
                <a:latin typeface="Times New Roman" panose="02020603050405020304" pitchFamily="18" charset="0"/>
                <a:ea typeface="Calibri" pitchFamily="34" charset="-122"/>
                <a:cs typeface="Times New Roman" panose="02020603050405020304" pitchFamily="18" charset="0"/>
              </a:rPr>
              <a:t>Quality Control — Box Plot</a:t>
            </a:r>
            <a:endParaRPr lang="en-US" sz="2000" dirty="0">
              <a:latin typeface="Times New Roman" panose="02020603050405020304" pitchFamily="18" charset="0"/>
              <a:cs typeface="Times New Roman" panose="02020603050405020304" pitchFamily="18" charset="0"/>
            </a:endParaRPr>
          </a:p>
        </p:txBody>
      </p:sp>
      <p:sp>
        <p:nvSpPr>
          <p:cNvPr id="7" name="Text 4"/>
          <p:cNvSpPr/>
          <p:nvPr/>
        </p:nvSpPr>
        <p:spPr>
          <a:xfrm>
            <a:off x="5943600" y="1985715"/>
            <a:ext cx="3048575" cy="2926080"/>
          </a:xfrm>
          <a:prstGeom prst="rect">
            <a:avLst/>
          </a:prstGeom>
          <a:noFill/>
          <a:ln/>
        </p:spPr>
        <p:txBody>
          <a:bodyPr wrap="square" rtlCol="0" anchor="ctr"/>
          <a:lstStyle/>
          <a:p>
            <a:pPr marL="342900" indent="-342900">
              <a:buSzPct val="100000"/>
              <a:buChar char="•"/>
            </a:pPr>
            <a:r>
              <a:rPr lang="en-US" dirty="0">
                <a:solidFill>
                  <a:srgbClr val="1E2D3D"/>
                </a:solidFill>
                <a:latin typeface="Times New Roman" panose="02020603050405020304" pitchFamily="18" charset="0"/>
                <a:ea typeface="Calibri" pitchFamily="34" charset="-122"/>
                <a:cs typeface="Times New Roman" panose="02020603050405020304" pitchFamily="18" charset="0"/>
              </a:rPr>
              <a:t>Distributions are relatively similar across all 10 samples.</a:t>
            </a:r>
            <a:endParaRPr lang="en-US" dirty="0">
              <a:latin typeface="Times New Roman" panose="02020603050405020304" pitchFamily="18" charset="0"/>
              <a:cs typeface="Times New Roman" panose="02020603050405020304" pitchFamily="18" charset="0"/>
            </a:endParaRPr>
          </a:p>
          <a:p>
            <a:pPr marL="342900" indent="-342900">
              <a:buSzPct val="100000"/>
              <a:buChar char="•"/>
            </a:pPr>
            <a:r>
              <a:rPr lang="en-US" dirty="0">
                <a:solidFill>
                  <a:srgbClr val="1E2D3D"/>
                </a:solidFill>
                <a:latin typeface="Times New Roman" panose="02020603050405020304" pitchFamily="18" charset="0"/>
                <a:ea typeface="Calibri" pitchFamily="34" charset="-122"/>
                <a:cs typeface="Times New Roman" panose="02020603050405020304" pitchFamily="18" charset="0"/>
              </a:rPr>
              <a:t>Comparable interquartile ranges confirm acceptable normalization.</a:t>
            </a:r>
            <a:endParaRPr lang="en-US" dirty="0">
              <a:latin typeface="Times New Roman" panose="02020603050405020304" pitchFamily="18" charset="0"/>
              <a:cs typeface="Times New Roman" panose="02020603050405020304" pitchFamily="18" charset="0"/>
            </a:endParaRPr>
          </a:p>
          <a:p>
            <a:pPr marL="342900" indent="-342900">
              <a:buSzPct val="100000"/>
              <a:buChar char="•"/>
            </a:pPr>
            <a:r>
              <a:rPr lang="en-US" dirty="0">
                <a:solidFill>
                  <a:srgbClr val="1E2D3D"/>
                </a:solidFill>
                <a:latin typeface="Times New Roman" panose="02020603050405020304" pitchFamily="18" charset="0"/>
                <a:ea typeface="Calibri" pitchFamily="34" charset="-122"/>
                <a:cs typeface="Times New Roman" panose="02020603050405020304" pitchFamily="18" charset="0"/>
              </a:rPr>
              <a:t>No major outlier samples detected.</a:t>
            </a:r>
            <a:endParaRPr lang="en-US" dirty="0">
              <a:latin typeface="Times New Roman" panose="02020603050405020304" pitchFamily="18" charset="0"/>
              <a:cs typeface="Times New Roman" panose="02020603050405020304" pitchFamily="18" charset="0"/>
            </a:endParaRPr>
          </a:p>
          <a:p>
            <a:pPr marL="342900" indent="-342900">
              <a:buSzPct val="100000"/>
              <a:buChar char="•"/>
            </a:pPr>
            <a:r>
              <a:rPr lang="en-US" dirty="0">
                <a:solidFill>
                  <a:srgbClr val="1E2D3D"/>
                </a:solidFill>
                <a:latin typeface="Times New Roman" panose="02020603050405020304" pitchFamily="18" charset="0"/>
                <a:ea typeface="Calibri" pitchFamily="34" charset="-122"/>
                <a:cs typeface="Times New Roman" panose="02020603050405020304" pitchFamily="18" charset="0"/>
              </a:rPr>
              <a:t>Indicates data is ready for downstream differential expression.</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4F8F9"/>
        </a:solidFill>
        <a:effectLst/>
      </p:bgPr>
    </p:bg>
    <p:spTree>
      <p:nvGrpSpPr>
        <p:cNvPr id="1" name=""/>
        <p:cNvGrpSpPr/>
        <p:nvPr/>
      </p:nvGrpSpPr>
      <p:grpSpPr>
        <a:xfrm>
          <a:off x="0" y="0"/>
          <a:ext cx="0" cy="0"/>
          <a:chOff x="0" y="0"/>
          <a:chExt cx="0" cy="0"/>
        </a:xfrm>
      </p:grpSpPr>
      <p:sp>
        <p:nvSpPr>
          <p:cNvPr id="2" name="Text 0"/>
          <p:cNvSpPr/>
          <p:nvPr/>
        </p:nvSpPr>
        <p:spPr>
          <a:xfrm>
            <a:off x="457200" y="201427"/>
            <a:ext cx="8412480" cy="502920"/>
          </a:xfrm>
          <a:prstGeom prst="rect">
            <a:avLst/>
          </a:prstGeom>
          <a:noFill/>
          <a:ln/>
        </p:spPr>
        <p:txBody>
          <a:bodyPr wrap="square" lIns="0" tIns="0" rIns="0" bIns="0" rtlCol="0" anchor="ctr"/>
          <a:lstStyle/>
          <a:p>
            <a:pPr marL="0" indent="0">
              <a:buNone/>
            </a:pPr>
            <a:r>
              <a:rPr lang="en-US" sz="4000" b="1" dirty="0">
                <a:solidFill>
                  <a:srgbClr val="0D2B45"/>
                </a:solidFill>
                <a:latin typeface="Times New Roman" panose="02020603050405020304" pitchFamily="18" charset="0"/>
                <a:ea typeface="Calibri" pitchFamily="34" charset="-122"/>
                <a:cs typeface="Times New Roman" panose="02020603050405020304" pitchFamily="18" charset="0"/>
              </a:rPr>
              <a:t>Quality Control — PCA</a:t>
            </a:r>
            <a:endParaRPr lang="en-US" sz="4000" dirty="0">
              <a:latin typeface="Times New Roman" panose="02020603050405020304" pitchFamily="18" charset="0"/>
              <a:cs typeface="Times New Roman" panose="02020603050405020304" pitchFamily="18" charset="0"/>
            </a:endParaRPr>
          </a:p>
        </p:txBody>
      </p:sp>
      <p:sp>
        <p:nvSpPr>
          <p:cNvPr id="3" name="Shape 1"/>
          <p:cNvSpPr/>
          <p:nvPr/>
        </p:nvSpPr>
        <p:spPr>
          <a:xfrm>
            <a:off x="365760" y="932688"/>
            <a:ext cx="8412480" cy="27432"/>
          </a:xfrm>
          <a:prstGeom prst="rect">
            <a:avLst/>
          </a:prstGeom>
          <a:solidFill>
            <a:srgbClr val="0F7173"/>
          </a:solidFill>
          <a:ln w="12700">
            <a:solidFill>
              <a:srgbClr val="0F7173"/>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204469" y="1051560"/>
            <a:ext cx="5556251" cy="3736100"/>
          </a:xfrm>
          <a:prstGeom prst="rect">
            <a:avLst/>
          </a:prstGeom>
        </p:spPr>
      </p:pic>
      <p:sp>
        <p:nvSpPr>
          <p:cNvPr id="5" name="Shape 2"/>
          <p:cNvSpPr/>
          <p:nvPr/>
        </p:nvSpPr>
        <p:spPr>
          <a:xfrm>
            <a:off x="5943600" y="1051559"/>
            <a:ext cx="3063240" cy="3960387"/>
          </a:xfrm>
          <a:prstGeom prst="rect">
            <a:avLst/>
          </a:prstGeom>
          <a:solidFill>
            <a:srgbClr val="FFFFFF"/>
          </a:solidFill>
          <a:ln w="12700">
            <a:solidFill>
              <a:srgbClr val="E2E8F0"/>
            </a:solidFill>
            <a:prstDash val="solid"/>
          </a:ln>
        </p:spPr>
        <p:txBody>
          <a:bodyPr/>
          <a:lstStyle/>
          <a:p>
            <a:endParaRPr lang="en-US"/>
          </a:p>
        </p:txBody>
      </p:sp>
      <p:sp>
        <p:nvSpPr>
          <p:cNvPr id="6" name="Text 3"/>
          <p:cNvSpPr/>
          <p:nvPr/>
        </p:nvSpPr>
        <p:spPr>
          <a:xfrm>
            <a:off x="6035040" y="1097280"/>
            <a:ext cx="2697480" cy="347472"/>
          </a:xfrm>
          <a:prstGeom prst="rect">
            <a:avLst/>
          </a:prstGeom>
          <a:noFill/>
          <a:ln/>
        </p:spPr>
        <p:txBody>
          <a:bodyPr wrap="square" lIns="0" tIns="0" rIns="0" bIns="0" rtlCol="0" anchor="ctr"/>
          <a:lstStyle/>
          <a:p>
            <a:pPr marL="0" indent="0">
              <a:buNone/>
            </a:pPr>
            <a:r>
              <a:rPr lang="en-US" sz="2000" b="1" dirty="0">
                <a:solidFill>
                  <a:srgbClr val="0D2B45"/>
                </a:solidFill>
                <a:latin typeface="Times New Roman" panose="02020603050405020304" pitchFamily="18" charset="0"/>
                <a:ea typeface="Calibri" pitchFamily="34" charset="-122"/>
                <a:cs typeface="Times New Roman" panose="02020603050405020304" pitchFamily="18" charset="0"/>
              </a:rPr>
              <a:t>Interpretation</a:t>
            </a:r>
            <a:endParaRPr lang="en-US" sz="2000" dirty="0">
              <a:latin typeface="Times New Roman" panose="02020603050405020304" pitchFamily="18" charset="0"/>
              <a:cs typeface="Times New Roman" panose="02020603050405020304" pitchFamily="18" charset="0"/>
            </a:endParaRPr>
          </a:p>
        </p:txBody>
      </p:sp>
      <p:sp>
        <p:nvSpPr>
          <p:cNvPr id="7" name="Text 4"/>
          <p:cNvSpPr/>
          <p:nvPr/>
        </p:nvSpPr>
        <p:spPr>
          <a:xfrm>
            <a:off x="6035040" y="1757545"/>
            <a:ext cx="2971800" cy="2926080"/>
          </a:xfrm>
          <a:prstGeom prst="rect">
            <a:avLst/>
          </a:prstGeom>
          <a:noFill/>
          <a:ln/>
        </p:spPr>
        <p:txBody>
          <a:bodyPr wrap="square" rtlCol="0" anchor="ctr"/>
          <a:lstStyle/>
          <a:p>
            <a:pPr marL="342900" indent="-342900">
              <a:buSzPct val="100000"/>
              <a:buChar char="•"/>
            </a:pPr>
            <a:r>
              <a:rPr lang="en-US" dirty="0">
                <a:solidFill>
                  <a:srgbClr val="1E2D3D"/>
                </a:solidFill>
                <a:latin typeface="Times New Roman" panose="02020603050405020304" pitchFamily="18" charset="0"/>
                <a:ea typeface="Calibri" pitchFamily="34" charset="-122"/>
                <a:cs typeface="Times New Roman" panose="02020603050405020304" pitchFamily="18" charset="0"/>
              </a:rPr>
              <a:t>PC1 (32.25%) and PC2 (19.68%) capture majority of variance.</a:t>
            </a:r>
            <a:endParaRPr lang="en-US" dirty="0">
              <a:latin typeface="Times New Roman" panose="02020603050405020304" pitchFamily="18" charset="0"/>
              <a:cs typeface="Times New Roman" panose="02020603050405020304" pitchFamily="18" charset="0"/>
            </a:endParaRPr>
          </a:p>
          <a:p>
            <a:pPr marL="342900" indent="-342900">
              <a:buSzPct val="100000"/>
              <a:buChar char="•"/>
            </a:pPr>
            <a:r>
              <a:rPr lang="en-US" dirty="0">
                <a:solidFill>
                  <a:srgbClr val="1E2D3D"/>
                </a:solidFill>
                <a:latin typeface="Times New Roman" panose="02020603050405020304" pitchFamily="18" charset="0"/>
                <a:ea typeface="Calibri" pitchFamily="34" charset="-122"/>
                <a:cs typeface="Times New Roman" panose="02020603050405020304" pitchFamily="18" charset="0"/>
              </a:rPr>
              <a:t>Moderate separation between TB and control groups visible.</a:t>
            </a:r>
            <a:endParaRPr lang="en-US" dirty="0">
              <a:latin typeface="Times New Roman" panose="02020603050405020304" pitchFamily="18" charset="0"/>
              <a:cs typeface="Times New Roman" panose="02020603050405020304" pitchFamily="18" charset="0"/>
            </a:endParaRPr>
          </a:p>
          <a:p>
            <a:pPr marL="342900" indent="-342900">
              <a:buSzPct val="100000"/>
              <a:buChar char="•"/>
            </a:pPr>
            <a:r>
              <a:rPr lang="en-US" dirty="0">
                <a:solidFill>
                  <a:srgbClr val="1E2D3D"/>
                </a:solidFill>
                <a:latin typeface="Times New Roman" panose="02020603050405020304" pitchFamily="18" charset="0"/>
                <a:ea typeface="Calibri" pitchFamily="34" charset="-122"/>
                <a:cs typeface="Times New Roman" panose="02020603050405020304" pitchFamily="18" charset="0"/>
              </a:rPr>
              <a:t>Confirms biological differences between the two conditions.</a:t>
            </a:r>
            <a:endParaRPr lang="en-US" dirty="0">
              <a:latin typeface="Times New Roman" panose="02020603050405020304" pitchFamily="18" charset="0"/>
              <a:cs typeface="Times New Roman" panose="02020603050405020304" pitchFamily="18" charset="0"/>
            </a:endParaRPr>
          </a:p>
          <a:p>
            <a:pPr marL="342900" indent="-342900">
              <a:buSzPct val="100000"/>
              <a:buChar char="•"/>
            </a:pPr>
            <a:r>
              <a:rPr lang="en-US" dirty="0">
                <a:solidFill>
                  <a:srgbClr val="1E2D3D"/>
                </a:solidFill>
                <a:latin typeface="Times New Roman" panose="02020603050405020304" pitchFamily="18" charset="0"/>
                <a:ea typeface="Calibri" pitchFamily="34" charset="-122"/>
                <a:cs typeface="Times New Roman" panose="02020603050405020304" pitchFamily="18" charset="0"/>
              </a:rPr>
              <a:t>Some overlap suggests inter-individual variation — expected with n=5.</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4F8F9"/>
        </a:solidFill>
        <a:effectLst/>
      </p:bgPr>
    </p:bg>
    <p:spTree>
      <p:nvGrpSpPr>
        <p:cNvPr id="1" name=""/>
        <p:cNvGrpSpPr/>
        <p:nvPr/>
      </p:nvGrpSpPr>
      <p:grpSpPr>
        <a:xfrm>
          <a:off x="0" y="0"/>
          <a:ext cx="0" cy="0"/>
          <a:chOff x="0" y="0"/>
          <a:chExt cx="0" cy="0"/>
        </a:xfrm>
      </p:grpSpPr>
      <p:sp>
        <p:nvSpPr>
          <p:cNvPr id="2" name="Text 0"/>
          <p:cNvSpPr/>
          <p:nvPr/>
        </p:nvSpPr>
        <p:spPr>
          <a:xfrm>
            <a:off x="502920" y="182880"/>
            <a:ext cx="8412480" cy="502920"/>
          </a:xfrm>
          <a:prstGeom prst="rect">
            <a:avLst/>
          </a:prstGeom>
          <a:noFill/>
          <a:ln/>
        </p:spPr>
        <p:txBody>
          <a:bodyPr wrap="square" lIns="0" tIns="0" rIns="0" bIns="0" rtlCol="0" anchor="ctr"/>
          <a:lstStyle/>
          <a:p>
            <a:pPr marL="0" indent="0">
              <a:buNone/>
            </a:pPr>
            <a:r>
              <a:rPr lang="en-US" sz="4000" b="1" dirty="0">
                <a:solidFill>
                  <a:srgbClr val="0D2B45"/>
                </a:solidFill>
                <a:latin typeface="Times New Roman" panose="02020603050405020304" pitchFamily="18" charset="0"/>
                <a:ea typeface="Calibri" pitchFamily="34" charset="-122"/>
                <a:cs typeface="Times New Roman" panose="02020603050405020304" pitchFamily="18" charset="0"/>
              </a:rPr>
              <a:t>Quality Control — Density Plot</a:t>
            </a:r>
            <a:endParaRPr lang="en-US" sz="4000" dirty="0">
              <a:latin typeface="Times New Roman" panose="02020603050405020304" pitchFamily="18" charset="0"/>
              <a:cs typeface="Times New Roman" panose="02020603050405020304" pitchFamily="18" charset="0"/>
            </a:endParaRPr>
          </a:p>
        </p:txBody>
      </p:sp>
      <p:sp>
        <p:nvSpPr>
          <p:cNvPr id="3" name="Shape 1"/>
          <p:cNvSpPr/>
          <p:nvPr/>
        </p:nvSpPr>
        <p:spPr>
          <a:xfrm>
            <a:off x="365760" y="932688"/>
            <a:ext cx="8412480" cy="27432"/>
          </a:xfrm>
          <a:prstGeom prst="rect">
            <a:avLst/>
          </a:prstGeom>
          <a:solidFill>
            <a:srgbClr val="0F7173"/>
          </a:solidFill>
          <a:ln w="12700">
            <a:solidFill>
              <a:srgbClr val="0F7173"/>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457200" y="1051560"/>
            <a:ext cx="5303520" cy="3566160"/>
          </a:xfrm>
          <a:prstGeom prst="rect">
            <a:avLst/>
          </a:prstGeom>
        </p:spPr>
      </p:pic>
      <p:sp>
        <p:nvSpPr>
          <p:cNvPr id="5" name="Shape 2"/>
          <p:cNvSpPr/>
          <p:nvPr/>
        </p:nvSpPr>
        <p:spPr>
          <a:xfrm>
            <a:off x="5943599" y="1051560"/>
            <a:ext cx="3088257" cy="3909060"/>
          </a:xfrm>
          <a:prstGeom prst="rect">
            <a:avLst/>
          </a:prstGeom>
          <a:solidFill>
            <a:srgbClr val="FFFFFF"/>
          </a:solidFill>
          <a:ln w="12700">
            <a:solidFill>
              <a:srgbClr val="E2E8F0"/>
            </a:solidFill>
            <a:prstDash val="solid"/>
          </a:ln>
        </p:spPr>
        <p:txBody>
          <a:bodyPr/>
          <a:lstStyle/>
          <a:p>
            <a:endParaRPr lang="en-US"/>
          </a:p>
        </p:txBody>
      </p:sp>
      <p:sp>
        <p:nvSpPr>
          <p:cNvPr id="6" name="Text 3"/>
          <p:cNvSpPr/>
          <p:nvPr/>
        </p:nvSpPr>
        <p:spPr>
          <a:xfrm>
            <a:off x="6035040" y="1097280"/>
            <a:ext cx="2697480" cy="347472"/>
          </a:xfrm>
          <a:prstGeom prst="rect">
            <a:avLst/>
          </a:prstGeom>
          <a:noFill/>
          <a:ln/>
        </p:spPr>
        <p:txBody>
          <a:bodyPr wrap="square" lIns="0" tIns="0" rIns="0" bIns="0" rtlCol="0" anchor="ctr"/>
          <a:lstStyle/>
          <a:p>
            <a:pPr marL="0" indent="0">
              <a:buNone/>
            </a:pPr>
            <a:r>
              <a:rPr lang="en-US" sz="2000" b="1" dirty="0">
                <a:solidFill>
                  <a:srgbClr val="0D2B45"/>
                </a:solidFill>
                <a:latin typeface="Times New Roman" panose="02020603050405020304" pitchFamily="18" charset="0"/>
                <a:ea typeface="Calibri" pitchFamily="34" charset="-122"/>
                <a:cs typeface="Times New Roman" panose="02020603050405020304" pitchFamily="18" charset="0"/>
              </a:rPr>
              <a:t>Interpretation</a:t>
            </a:r>
            <a:endParaRPr lang="en-US" sz="2000" dirty="0">
              <a:latin typeface="Times New Roman" panose="02020603050405020304" pitchFamily="18" charset="0"/>
              <a:cs typeface="Times New Roman" panose="02020603050405020304" pitchFamily="18" charset="0"/>
            </a:endParaRPr>
          </a:p>
        </p:txBody>
      </p:sp>
      <p:sp>
        <p:nvSpPr>
          <p:cNvPr id="7" name="Text 4"/>
          <p:cNvSpPr/>
          <p:nvPr/>
        </p:nvSpPr>
        <p:spPr>
          <a:xfrm>
            <a:off x="5943599" y="1620903"/>
            <a:ext cx="2974387" cy="2926080"/>
          </a:xfrm>
          <a:prstGeom prst="rect">
            <a:avLst/>
          </a:prstGeom>
          <a:noFill/>
          <a:ln/>
        </p:spPr>
        <p:txBody>
          <a:bodyPr wrap="square" rtlCol="0" anchor="ctr"/>
          <a:lstStyle/>
          <a:p>
            <a:pPr marL="342900" indent="-342900">
              <a:buSzPct val="100000"/>
              <a:buChar char="•"/>
            </a:pPr>
            <a:r>
              <a:rPr lang="en-US" dirty="0">
                <a:solidFill>
                  <a:srgbClr val="1E2D3D"/>
                </a:solidFill>
                <a:latin typeface="Times New Roman" panose="02020603050405020304" pitchFamily="18" charset="0"/>
                <a:ea typeface="Calibri" pitchFamily="34" charset="-122"/>
                <a:cs typeface="Times New Roman" panose="02020603050405020304" pitchFamily="18" charset="0"/>
              </a:rPr>
              <a:t>N=10 samples, bandwidth = 49.24</a:t>
            </a:r>
            <a:endParaRPr lang="en-US" dirty="0">
              <a:latin typeface="Times New Roman" panose="02020603050405020304" pitchFamily="18" charset="0"/>
              <a:cs typeface="Times New Roman" panose="02020603050405020304" pitchFamily="18" charset="0"/>
            </a:endParaRPr>
          </a:p>
          <a:p>
            <a:pPr marL="342900" indent="-342900">
              <a:buSzPct val="100000"/>
              <a:buChar char="•"/>
            </a:pPr>
            <a:r>
              <a:rPr lang="en-US" dirty="0">
                <a:solidFill>
                  <a:srgbClr val="1E2D3D"/>
                </a:solidFill>
                <a:latin typeface="Times New Roman" panose="02020603050405020304" pitchFamily="18" charset="0"/>
                <a:ea typeface="Calibri" pitchFamily="34" charset="-122"/>
                <a:cs typeface="Times New Roman" panose="02020603050405020304" pitchFamily="18" charset="0"/>
              </a:rPr>
              <a:t>Bimodal distribution reflects two distinct gene expression clusters</a:t>
            </a:r>
            <a:endParaRPr lang="en-US" dirty="0">
              <a:latin typeface="Times New Roman" panose="02020603050405020304" pitchFamily="18" charset="0"/>
              <a:cs typeface="Times New Roman" panose="02020603050405020304" pitchFamily="18" charset="0"/>
            </a:endParaRPr>
          </a:p>
          <a:p>
            <a:pPr marL="342900" indent="-342900">
              <a:buSzPct val="100000"/>
              <a:buChar char="•"/>
            </a:pPr>
            <a:r>
              <a:rPr lang="en-US" dirty="0">
                <a:solidFill>
                  <a:srgbClr val="1E2D3D"/>
                </a:solidFill>
                <a:latin typeface="Times New Roman" panose="02020603050405020304" pitchFamily="18" charset="0"/>
                <a:ea typeface="Calibri" pitchFamily="34" charset="-122"/>
                <a:cs typeface="Times New Roman" panose="02020603050405020304" pitchFamily="18" charset="0"/>
              </a:rPr>
              <a:t>Variability among samples is visible — expected in clinical data</a:t>
            </a:r>
            <a:endParaRPr lang="en-US" dirty="0">
              <a:latin typeface="Times New Roman" panose="02020603050405020304" pitchFamily="18" charset="0"/>
              <a:cs typeface="Times New Roman" panose="02020603050405020304" pitchFamily="18" charset="0"/>
            </a:endParaRPr>
          </a:p>
          <a:p>
            <a:pPr marL="342900" indent="-342900">
              <a:buSzPct val="100000"/>
              <a:buChar char="•"/>
            </a:pPr>
            <a:r>
              <a:rPr lang="en-US" dirty="0">
                <a:solidFill>
                  <a:srgbClr val="1E2D3D"/>
                </a:solidFill>
                <a:latin typeface="Times New Roman" panose="02020603050405020304" pitchFamily="18" charset="0"/>
                <a:ea typeface="Calibri" pitchFamily="34" charset="-122"/>
                <a:cs typeface="Times New Roman" panose="02020603050405020304" pitchFamily="18" charset="0"/>
              </a:rPr>
              <a:t>Confirms the data spans a sufficient expression range for analysis</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4F8F9"/>
        </a:solidFill>
        <a:effectLst/>
      </p:bgPr>
    </p:bg>
    <p:spTree>
      <p:nvGrpSpPr>
        <p:cNvPr id="1" name=""/>
        <p:cNvGrpSpPr/>
        <p:nvPr/>
      </p:nvGrpSpPr>
      <p:grpSpPr>
        <a:xfrm>
          <a:off x="0" y="0"/>
          <a:ext cx="0" cy="0"/>
          <a:chOff x="0" y="0"/>
          <a:chExt cx="0" cy="0"/>
        </a:xfrm>
      </p:grpSpPr>
      <p:sp>
        <p:nvSpPr>
          <p:cNvPr id="2" name="Text 0"/>
          <p:cNvSpPr/>
          <p:nvPr/>
        </p:nvSpPr>
        <p:spPr>
          <a:xfrm>
            <a:off x="457200" y="182880"/>
            <a:ext cx="8458200" cy="502920"/>
          </a:xfrm>
          <a:prstGeom prst="rect">
            <a:avLst/>
          </a:prstGeom>
          <a:noFill/>
          <a:ln/>
        </p:spPr>
        <p:txBody>
          <a:bodyPr wrap="square" lIns="0" tIns="0" rIns="0" bIns="0" rtlCol="0" anchor="ctr"/>
          <a:lstStyle/>
          <a:p>
            <a:pPr marL="0" indent="0">
              <a:buNone/>
            </a:pPr>
            <a:r>
              <a:rPr lang="en-US" sz="4000" b="1" dirty="0">
                <a:solidFill>
                  <a:srgbClr val="0D2B45"/>
                </a:solidFill>
                <a:latin typeface="Times New Roman" panose="02020603050405020304" pitchFamily="18" charset="0"/>
                <a:ea typeface="Calibri" pitchFamily="34" charset="-122"/>
                <a:cs typeface="Times New Roman" panose="02020603050405020304" pitchFamily="18" charset="0"/>
              </a:rPr>
              <a:t>Results — Heatmap of Top 50 DEGs</a:t>
            </a:r>
            <a:endParaRPr lang="en-US" sz="4000" dirty="0">
              <a:latin typeface="Times New Roman" panose="02020603050405020304" pitchFamily="18" charset="0"/>
              <a:cs typeface="Times New Roman" panose="02020603050405020304" pitchFamily="18" charset="0"/>
            </a:endParaRPr>
          </a:p>
        </p:txBody>
      </p:sp>
      <p:sp>
        <p:nvSpPr>
          <p:cNvPr id="3" name="Shape 1"/>
          <p:cNvSpPr/>
          <p:nvPr/>
        </p:nvSpPr>
        <p:spPr>
          <a:xfrm>
            <a:off x="365760" y="932688"/>
            <a:ext cx="8412480" cy="27432"/>
          </a:xfrm>
          <a:prstGeom prst="rect">
            <a:avLst/>
          </a:prstGeom>
          <a:solidFill>
            <a:srgbClr val="0F7173"/>
          </a:solidFill>
          <a:ln w="12700">
            <a:solidFill>
              <a:srgbClr val="0F7173"/>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320039" y="1099221"/>
            <a:ext cx="4648775" cy="3813737"/>
          </a:xfrm>
          <a:prstGeom prst="rect">
            <a:avLst/>
          </a:prstGeom>
        </p:spPr>
      </p:pic>
      <p:sp>
        <p:nvSpPr>
          <p:cNvPr id="5" name="Shape 2"/>
          <p:cNvSpPr/>
          <p:nvPr/>
        </p:nvSpPr>
        <p:spPr>
          <a:xfrm>
            <a:off x="5120640" y="1051560"/>
            <a:ext cx="3703320" cy="3909060"/>
          </a:xfrm>
          <a:prstGeom prst="rect">
            <a:avLst/>
          </a:prstGeom>
          <a:solidFill>
            <a:srgbClr val="FFFFFF"/>
          </a:solidFill>
          <a:ln w="12700">
            <a:solidFill>
              <a:srgbClr val="E2E8F0"/>
            </a:solidFill>
            <a:prstDash val="solid"/>
          </a:ln>
        </p:spPr>
        <p:txBody>
          <a:bodyPr/>
          <a:lstStyle/>
          <a:p>
            <a:endParaRPr lang="en-US"/>
          </a:p>
        </p:txBody>
      </p:sp>
      <p:sp>
        <p:nvSpPr>
          <p:cNvPr id="6" name="Text 3"/>
          <p:cNvSpPr/>
          <p:nvPr/>
        </p:nvSpPr>
        <p:spPr>
          <a:xfrm>
            <a:off x="5212080" y="1097280"/>
            <a:ext cx="3520440" cy="347472"/>
          </a:xfrm>
          <a:prstGeom prst="rect">
            <a:avLst/>
          </a:prstGeom>
          <a:noFill/>
          <a:ln/>
        </p:spPr>
        <p:txBody>
          <a:bodyPr wrap="square" lIns="0" tIns="0" rIns="0" bIns="0" rtlCol="0" anchor="ctr"/>
          <a:lstStyle/>
          <a:p>
            <a:pPr marL="0" indent="0">
              <a:buNone/>
            </a:pPr>
            <a:r>
              <a:rPr lang="en-US" sz="2000" b="1" dirty="0">
                <a:solidFill>
                  <a:srgbClr val="0D2B45"/>
                </a:solidFill>
                <a:latin typeface="Times New Roman" panose="02020603050405020304" pitchFamily="18" charset="0"/>
                <a:ea typeface="Calibri" pitchFamily="34" charset="-122"/>
                <a:cs typeface="Times New Roman" panose="02020603050405020304" pitchFamily="18" charset="0"/>
              </a:rPr>
              <a:t>Key Observations</a:t>
            </a:r>
            <a:endParaRPr lang="en-US" sz="2000" dirty="0">
              <a:latin typeface="Times New Roman" panose="02020603050405020304" pitchFamily="18" charset="0"/>
              <a:cs typeface="Times New Roman" panose="02020603050405020304" pitchFamily="18" charset="0"/>
            </a:endParaRPr>
          </a:p>
        </p:txBody>
      </p:sp>
      <p:sp>
        <p:nvSpPr>
          <p:cNvPr id="7" name="Text 4"/>
          <p:cNvSpPr/>
          <p:nvPr/>
        </p:nvSpPr>
        <p:spPr>
          <a:xfrm>
            <a:off x="5120640" y="1655409"/>
            <a:ext cx="3520440" cy="2926080"/>
          </a:xfrm>
          <a:prstGeom prst="rect">
            <a:avLst/>
          </a:prstGeom>
          <a:noFill/>
          <a:ln/>
        </p:spPr>
        <p:txBody>
          <a:bodyPr wrap="square" rtlCol="0" anchor="ctr"/>
          <a:lstStyle/>
          <a:p>
            <a:pPr marL="342900" indent="-342900">
              <a:buSzPct val="100000"/>
              <a:buChar char="•"/>
            </a:pPr>
            <a:r>
              <a:rPr lang="en-US" dirty="0">
                <a:solidFill>
                  <a:srgbClr val="1E2D3D"/>
                </a:solidFill>
                <a:latin typeface="Times New Roman" panose="02020603050405020304" pitchFamily="18" charset="0"/>
                <a:ea typeface="Calibri" pitchFamily="34" charset="-122"/>
                <a:cs typeface="Times New Roman" panose="02020603050405020304" pitchFamily="18" charset="0"/>
              </a:rPr>
              <a:t>Clear clustering of TB samples (red) vs control (blue).</a:t>
            </a:r>
            <a:endParaRPr lang="en-US" dirty="0">
              <a:latin typeface="Times New Roman" panose="02020603050405020304" pitchFamily="18" charset="0"/>
              <a:cs typeface="Times New Roman" panose="02020603050405020304" pitchFamily="18" charset="0"/>
            </a:endParaRPr>
          </a:p>
          <a:p>
            <a:pPr marL="342900" indent="-342900">
              <a:buSzPct val="100000"/>
              <a:buChar char="•"/>
            </a:pPr>
            <a:r>
              <a:rPr lang="en-US" dirty="0">
                <a:solidFill>
                  <a:srgbClr val="1E2D3D"/>
                </a:solidFill>
                <a:latin typeface="Times New Roman" panose="02020603050405020304" pitchFamily="18" charset="0"/>
                <a:ea typeface="Calibri" pitchFamily="34" charset="-122"/>
                <a:cs typeface="Times New Roman" panose="02020603050405020304" pitchFamily="18" charset="0"/>
              </a:rPr>
              <a:t>TB samples show strong upregulation of immune genes.</a:t>
            </a:r>
            <a:endParaRPr lang="en-US" dirty="0">
              <a:latin typeface="Times New Roman" panose="02020603050405020304" pitchFamily="18" charset="0"/>
              <a:cs typeface="Times New Roman" panose="02020603050405020304" pitchFamily="18" charset="0"/>
            </a:endParaRPr>
          </a:p>
          <a:p>
            <a:pPr marL="342900" indent="-342900">
              <a:buSzPct val="100000"/>
              <a:buChar char="•"/>
            </a:pPr>
            <a:r>
              <a:rPr lang="en-US" dirty="0">
                <a:solidFill>
                  <a:srgbClr val="1E2D3D"/>
                </a:solidFill>
                <a:latin typeface="Times New Roman" panose="02020603050405020304" pitchFamily="18" charset="0"/>
                <a:ea typeface="Calibri" pitchFamily="34" charset="-122"/>
                <a:cs typeface="Times New Roman" panose="02020603050405020304" pitchFamily="18" charset="0"/>
              </a:rPr>
              <a:t>Control samples show higher expression of structural/muscle genes.</a:t>
            </a:r>
            <a:endParaRPr lang="en-US" dirty="0">
              <a:latin typeface="Times New Roman" panose="02020603050405020304" pitchFamily="18" charset="0"/>
              <a:cs typeface="Times New Roman" panose="02020603050405020304" pitchFamily="18" charset="0"/>
            </a:endParaRPr>
          </a:p>
          <a:p>
            <a:pPr marL="342900" indent="-342900">
              <a:buSzPct val="100000"/>
              <a:buChar char="•"/>
            </a:pPr>
            <a:r>
              <a:rPr lang="en-US" dirty="0">
                <a:solidFill>
                  <a:srgbClr val="1E2D3D"/>
                </a:solidFill>
                <a:latin typeface="Times New Roman" panose="02020603050405020304" pitchFamily="18" charset="0"/>
                <a:ea typeface="Calibri" pitchFamily="34" charset="-122"/>
                <a:cs typeface="Times New Roman" panose="02020603050405020304" pitchFamily="18" charset="0"/>
              </a:rPr>
              <a:t>Hierarchical clustering confirms two distinct transcriptomic profiles.</a:t>
            </a:r>
            <a:endParaRPr lang="en-US" dirty="0">
              <a:latin typeface="Times New Roman" panose="02020603050405020304" pitchFamily="18" charset="0"/>
              <a:cs typeface="Times New Roman" panose="02020603050405020304" pitchFamily="18" charset="0"/>
            </a:endParaRPr>
          </a:p>
          <a:p>
            <a:pPr marL="342900" indent="-342900">
              <a:buSzPct val="100000"/>
              <a:buChar char="•"/>
            </a:pPr>
            <a:r>
              <a:rPr lang="en-US" dirty="0">
                <a:solidFill>
                  <a:srgbClr val="1E2D3D"/>
                </a:solidFill>
                <a:latin typeface="Times New Roman" panose="02020603050405020304" pitchFamily="18" charset="0"/>
                <a:ea typeface="Calibri" pitchFamily="34" charset="-122"/>
                <a:cs typeface="Times New Roman" panose="02020603050405020304" pitchFamily="18" charset="0"/>
              </a:rPr>
              <a:t>Top 50 DEGs show high inter-group contrast.</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4F8F9"/>
        </a:solidFill>
        <a:effectLst/>
      </p:bgPr>
    </p:bg>
    <p:spTree>
      <p:nvGrpSpPr>
        <p:cNvPr id="1" name=""/>
        <p:cNvGrpSpPr/>
        <p:nvPr/>
      </p:nvGrpSpPr>
      <p:grpSpPr>
        <a:xfrm>
          <a:off x="0" y="0"/>
          <a:ext cx="0" cy="0"/>
          <a:chOff x="0" y="0"/>
          <a:chExt cx="0" cy="0"/>
        </a:xfrm>
      </p:grpSpPr>
      <p:sp>
        <p:nvSpPr>
          <p:cNvPr id="2" name="Text 0"/>
          <p:cNvSpPr/>
          <p:nvPr/>
        </p:nvSpPr>
        <p:spPr>
          <a:xfrm>
            <a:off x="502920" y="182880"/>
            <a:ext cx="8412480" cy="502920"/>
          </a:xfrm>
          <a:prstGeom prst="rect">
            <a:avLst/>
          </a:prstGeom>
          <a:noFill/>
          <a:ln/>
        </p:spPr>
        <p:txBody>
          <a:bodyPr wrap="square" lIns="0" tIns="0" rIns="0" bIns="0" rtlCol="0" anchor="ctr"/>
          <a:lstStyle/>
          <a:p>
            <a:pPr marL="0" indent="0">
              <a:buNone/>
            </a:pPr>
            <a:r>
              <a:rPr lang="en-US" sz="4000" b="1" dirty="0">
                <a:solidFill>
                  <a:srgbClr val="0D2B45"/>
                </a:solidFill>
                <a:latin typeface="Times New Roman" panose="02020603050405020304" pitchFamily="18" charset="0"/>
                <a:ea typeface="Calibri" pitchFamily="34" charset="-122"/>
                <a:cs typeface="Times New Roman" panose="02020603050405020304" pitchFamily="18" charset="0"/>
              </a:rPr>
              <a:t>Results — Volcano Plot</a:t>
            </a:r>
            <a:endParaRPr lang="en-US" sz="4000" dirty="0">
              <a:latin typeface="Times New Roman" panose="02020603050405020304" pitchFamily="18" charset="0"/>
              <a:cs typeface="Times New Roman" panose="02020603050405020304" pitchFamily="18" charset="0"/>
            </a:endParaRPr>
          </a:p>
        </p:txBody>
      </p:sp>
      <p:sp>
        <p:nvSpPr>
          <p:cNvPr id="3" name="Shape 1"/>
          <p:cNvSpPr/>
          <p:nvPr/>
        </p:nvSpPr>
        <p:spPr>
          <a:xfrm>
            <a:off x="365760" y="932688"/>
            <a:ext cx="8412480" cy="27432"/>
          </a:xfrm>
          <a:prstGeom prst="rect">
            <a:avLst/>
          </a:prstGeom>
          <a:solidFill>
            <a:srgbClr val="0F7173"/>
          </a:solidFill>
          <a:ln w="12700">
            <a:solidFill>
              <a:srgbClr val="0F7173"/>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457200" y="1051560"/>
            <a:ext cx="5303520" cy="3566160"/>
          </a:xfrm>
          <a:prstGeom prst="rect">
            <a:avLst/>
          </a:prstGeom>
        </p:spPr>
      </p:pic>
      <p:sp>
        <p:nvSpPr>
          <p:cNvPr id="5" name="Shape 2"/>
          <p:cNvSpPr/>
          <p:nvPr/>
        </p:nvSpPr>
        <p:spPr>
          <a:xfrm>
            <a:off x="5897880" y="1051560"/>
            <a:ext cx="3108960" cy="3909060"/>
          </a:xfrm>
          <a:prstGeom prst="rect">
            <a:avLst/>
          </a:prstGeom>
          <a:solidFill>
            <a:srgbClr val="FFFFFF"/>
          </a:solidFill>
          <a:ln w="12700">
            <a:solidFill>
              <a:srgbClr val="E2E8F0"/>
            </a:solidFill>
            <a:prstDash val="solid"/>
          </a:ln>
        </p:spPr>
        <p:txBody>
          <a:bodyPr/>
          <a:lstStyle/>
          <a:p>
            <a:endParaRPr lang="en-US"/>
          </a:p>
        </p:txBody>
      </p:sp>
      <p:sp>
        <p:nvSpPr>
          <p:cNvPr id="6" name="Text 3"/>
          <p:cNvSpPr/>
          <p:nvPr/>
        </p:nvSpPr>
        <p:spPr>
          <a:xfrm>
            <a:off x="5989320" y="1051042"/>
            <a:ext cx="2697480" cy="347472"/>
          </a:xfrm>
          <a:prstGeom prst="rect">
            <a:avLst/>
          </a:prstGeom>
          <a:noFill/>
          <a:ln/>
        </p:spPr>
        <p:txBody>
          <a:bodyPr wrap="square" lIns="0" tIns="0" rIns="0" bIns="0" rtlCol="0" anchor="ctr"/>
          <a:lstStyle/>
          <a:p>
            <a:pPr marL="0" indent="0">
              <a:buNone/>
            </a:pPr>
            <a:r>
              <a:rPr lang="en-US" sz="2000" b="1" dirty="0">
                <a:solidFill>
                  <a:srgbClr val="0D2B45"/>
                </a:solidFill>
                <a:latin typeface="Times New Roman" panose="02020603050405020304" pitchFamily="18" charset="0"/>
                <a:ea typeface="Calibri" pitchFamily="34" charset="-122"/>
                <a:cs typeface="Times New Roman" panose="02020603050405020304" pitchFamily="18" charset="0"/>
              </a:rPr>
              <a:t>Key Observations</a:t>
            </a:r>
            <a:endParaRPr lang="en-US" sz="2000" dirty="0">
              <a:latin typeface="Times New Roman" panose="02020603050405020304" pitchFamily="18" charset="0"/>
              <a:cs typeface="Times New Roman" panose="02020603050405020304" pitchFamily="18" charset="0"/>
            </a:endParaRPr>
          </a:p>
        </p:txBody>
      </p:sp>
      <p:sp>
        <p:nvSpPr>
          <p:cNvPr id="7" name="Text 4"/>
          <p:cNvSpPr/>
          <p:nvPr/>
        </p:nvSpPr>
        <p:spPr>
          <a:xfrm>
            <a:off x="5897880" y="1683876"/>
            <a:ext cx="3108960" cy="2926080"/>
          </a:xfrm>
          <a:prstGeom prst="rect">
            <a:avLst/>
          </a:prstGeom>
          <a:noFill/>
          <a:ln/>
        </p:spPr>
        <p:txBody>
          <a:bodyPr wrap="square" rtlCol="0" anchor="ctr"/>
          <a:lstStyle/>
          <a:p>
            <a:pPr marL="342900" indent="-342900">
              <a:buSzPct val="100000"/>
              <a:buChar char="•"/>
            </a:pPr>
            <a:r>
              <a:rPr lang="en-US" dirty="0">
                <a:solidFill>
                  <a:srgbClr val="1E2D3D"/>
                </a:solidFill>
                <a:latin typeface="Times New Roman" panose="02020603050405020304" pitchFamily="18" charset="0"/>
                <a:ea typeface="Calibri" pitchFamily="34" charset="-122"/>
                <a:cs typeface="Times New Roman" panose="02020603050405020304" pitchFamily="18" charset="0"/>
              </a:rPr>
              <a:t>Total genes: 19,884</a:t>
            </a:r>
            <a:endParaRPr lang="en-US" dirty="0">
              <a:latin typeface="Times New Roman" panose="02020603050405020304" pitchFamily="18" charset="0"/>
              <a:cs typeface="Times New Roman" panose="02020603050405020304" pitchFamily="18" charset="0"/>
            </a:endParaRPr>
          </a:p>
          <a:p>
            <a:pPr marL="342900" indent="-342900">
              <a:buSzPct val="100000"/>
              <a:buChar char="•"/>
            </a:pPr>
            <a:r>
              <a:rPr lang="en-US" dirty="0">
                <a:solidFill>
                  <a:srgbClr val="1E2D3D"/>
                </a:solidFill>
                <a:latin typeface="Times New Roman" panose="02020603050405020304" pitchFamily="18" charset="0"/>
                <a:ea typeface="Calibri" pitchFamily="34" charset="-122"/>
                <a:cs typeface="Times New Roman" panose="02020603050405020304" pitchFamily="18" charset="0"/>
              </a:rPr>
              <a:t>Cutoffs: |log₂FC| &gt; 1, adj.p &lt; 0.05.</a:t>
            </a:r>
            <a:endParaRPr lang="en-US" dirty="0">
              <a:latin typeface="Times New Roman" panose="02020603050405020304" pitchFamily="18" charset="0"/>
              <a:cs typeface="Times New Roman" panose="02020603050405020304" pitchFamily="18" charset="0"/>
            </a:endParaRPr>
          </a:p>
          <a:p>
            <a:pPr marL="342900" indent="-342900">
              <a:buSzPct val="100000"/>
              <a:buChar char="•"/>
            </a:pPr>
            <a:r>
              <a:rPr lang="en-US" dirty="0">
                <a:solidFill>
                  <a:srgbClr val="1E2D3D"/>
                </a:solidFill>
                <a:latin typeface="Times New Roman" panose="02020603050405020304" pitchFamily="18" charset="0"/>
                <a:ea typeface="Calibri" pitchFamily="34" charset="-122"/>
                <a:cs typeface="Times New Roman" panose="02020603050405020304" pitchFamily="18" charset="0"/>
              </a:rPr>
              <a:t>Red: significant by both p-value &amp; FC.</a:t>
            </a:r>
            <a:endParaRPr lang="en-US" dirty="0">
              <a:latin typeface="Times New Roman" panose="02020603050405020304" pitchFamily="18" charset="0"/>
              <a:cs typeface="Times New Roman" panose="02020603050405020304" pitchFamily="18" charset="0"/>
            </a:endParaRPr>
          </a:p>
          <a:p>
            <a:pPr marL="342900" indent="-342900">
              <a:buSzPct val="100000"/>
              <a:buChar char="•"/>
            </a:pPr>
            <a:r>
              <a:rPr lang="en-US" dirty="0">
                <a:solidFill>
                  <a:srgbClr val="1E2D3D"/>
                </a:solidFill>
                <a:latin typeface="Times New Roman" panose="02020603050405020304" pitchFamily="18" charset="0"/>
                <a:ea typeface="Calibri" pitchFamily="34" charset="-122"/>
                <a:cs typeface="Times New Roman" panose="02020603050405020304" pitchFamily="18" charset="0"/>
              </a:rPr>
              <a:t>Blue: significant by p-value only.</a:t>
            </a:r>
            <a:endParaRPr lang="en-US" dirty="0">
              <a:latin typeface="Times New Roman" panose="02020603050405020304" pitchFamily="18" charset="0"/>
              <a:cs typeface="Times New Roman" panose="02020603050405020304" pitchFamily="18" charset="0"/>
            </a:endParaRPr>
          </a:p>
          <a:p>
            <a:pPr marL="342900" indent="-342900">
              <a:buSzPct val="100000"/>
              <a:buChar char="•"/>
            </a:pPr>
            <a:r>
              <a:rPr lang="en-US" dirty="0">
                <a:solidFill>
                  <a:srgbClr val="1E2D3D"/>
                </a:solidFill>
                <a:latin typeface="Times New Roman" panose="02020603050405020304" pitchFamily="18" charset="0"/>
                <a:ea typeface="Calibri" pitchFamily="34" charset="-122"/>
                <a:cs typeface="Times New Roman" panose="02020603050405020304" pitchFamily="18" charset="0"/>
              </a:rPr>
              <a:t>Green: significant by FC only.</a:t>
            </a:r>
            <a:endParaRPr lang="en-US" dirty="0">
              <a:latin typeface="Times New Roman" panose="02020603050405020304" pitchFamily="18" charset="0"/>
              <a:cs typeface="Times New Roman" panose="02020603050405020304" pitchFamily="18" charset="0"/>
            </a:endParaRPr>
          </a:p>
          <a:p>
            <a:pPr marL="342900" indent="-342900">
              <a:buSzPct val="100000"/>
              <a:buChar char="•"/>
            </a:pPr>
            <a:r>
              <a:rPr lang="en-US" dirty="0">
                <a:solidFill>
                  <a:srgbClr val="1E2D3D"/>
                </a:solidFill>
                <a:latin typeface="Times New Roman" panose="02020603050405020304" pitchFamily="18" charset="0"/>
                <a:ea typeface="Calibri" pitchFamily="34" charset="-122"/>
                <a:cs typeface="Times New Roman" panose="02020603050405020304" pitchFamily="18" charset="0"/>
              </a:rPr>
              <a:t>Large number of significant DEGs confirms strong transcriptomic response to TB.</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4F8F9"/>
        </a:solidFill>
        <a:effectLst/>
      </p:bgPr>
    </p:bg>
    <p:spTree>
      <p:nvGrpSpPr>
        <p:cNvPr id="1" name=""/>
        <p:cNvGrpSpPr/>
        <p:nvPr/>
      </p:nvGrpSpPr>
      <p:grpSpPr>
        <a:xfrm>
          <a:off x="0" y="0"/>
          <a:ext cx="0" cy="0"/>
          <a:chOff x="0" y="0"/>
          <a:chExt cx="0" cy="0"/>
        </a:xfrm>
      </p:grpSpPr>
      <p:sp>
        <p:nvSpPr>
          <p:cNvPr id="2" name="Text 0"/>
          <p:cNvSpPr/>
          <p:nvPr/>
        </p:nvSpPr>
        <p:spPr>
          <a:xfrm>
            <a:off x="365760" y="260431"/>
            <a:ext cx="9598612" cy="502920"/>
          </a:xfrm>
          <a:prstGeom prst="rect">
            <a:avLst/>
          </a:prstGeom>
          <a:noFill/>
          <a:ln/>
        </p:spPr>
        <p:txBody>
          <a:bodyPr wrap="square" lIns="0" tIns="0" rIns="0" bIns="0" rtlCol="0" anchor="ctr"/>
          <a:lstStyle/>
          <a:p>
            <a:pPr marL="0" indent="0">
              <a:buNone/>
            </a:pPr>
            <a:r>
              <a:rPr lang="en-US" sz="3600" b="1" dirty="0">
                <a:solidFill>
                  <a:srgbClr val="0D2B45"/>
                </a:solidFill>
                <a:latin typeface="Times New Roman" panose="02020603050405020304" pitchFamily="18" charset="0"/>
                <a:ea typeface="Calibri" pitchFamily="34" charset="-122"/>
                <a:cs typeface="Times New Roman" panose="02020603050405020304" pitchFamily="18" charset="0"/>
              </a:rPr>
              <a:t>Results — Differential Expression Analysis</a:t>
            </a:r>
            <a:endParaRPr lang="en-US" sz="3600" dirty="0">
              <a:latin typeface="Times New Roman" panose="02020603050405020304" pitchFamily="18" charset="0"/>
              <a:cs typeface="Times New Roman" panose="02020603050405020304" pitchFamily="18" charset="0"/>
            </a:endParaRPr>
          </a:p>
        </p:txBody>
      </p:sp>
      <p:sp>
        <p:nvSpPr>
          <p:cNvPr id="3" name="Shape 1"/>
          <p:cNvSpPr/>
          <p:nvPr/>
        </p:nvSpPr>
        <p:spPr>
          <a:xfrm>
            <a:off x="365760" y="932688"/>
            <a:ext cx="8412480" cy="27432"/>
          </a:xfrm>
          <a:prstGeom prst="rect">
            <a:avLst/>
          </a:prstGeom>
          <a:solidFill>
            <a:srgbClr val="0F7173"/>
          </a:solidFill>
          <a:ln w="12700">
            <a:solidFill>
              <a:srgbClr val="0F7173"/>
            </a:solidFill>
            <a:prstDash val="solid"/>
          </a:ln>
        </p:spPr>
        <p:txBody>
          <a:bodyPr/>
          <a:lstStyle/>
          <a:p>
            <a:endParaRPr lang="en-US"/>
          </a:p>
        </p:txBody>
      </p:sp>
      <p:sp>
        <p:nvSpPr>
          <p:cNvPr id="4" name="Shape 2"/>
          <p:cNvSpPr/>
          <p:nvPr/>
        </p:nvSpPr>
        <p:spPr>
          <a:xfrm>
            <a:off x="365760" y="1051560"/>
            <a:ext cx="2743200" cy="1234440"/>
          </a:xfrm>
          <a:prstGeom prst="rect">
            <a:avLst/>
          </a:prstGeom>
          <a:solidFill>
            <a:srgbClr val="0D2B45"/>
          </a:solidFill>
          <a:ln w="12700">
            <a:solidFill>
              <a:srgbClr val="0D2B45"/>
            </a:solidFill>
            <a:prstDash val="solid"/>
          </a:ln>
        </p:spPr>
        <p:txBody>
          <a:bodyPr/>
          <a:lstStyle/>
          <a:p>
            <a:endParaRPr lang="en-US"/>
          </a:p>
        </p:txBody>
      </p:sp>
      <p:sp>
        <p:nvSpPr>
          <p:cNvPr id="5" name="Text 3"/>
          <p:cNvSpPr/>
          <p:nvPr/>
        </p:nvSpPr>
        <p:spPr>
          <a:xfrm>
            <a:off x="365760" y="1097280"/>
            <a:ext cx="2743200" cy="685800"/>
          </a:xfrm>
          <a:prstGeom prst="rect">
            <a:avLst/>
          </a:prstGeom>
          <a:noFill/>
          <a:ln/>
        </p:spPr>
        <p:txBody>
          <a:bodyPr wrap="square" lIns="0" tIns="0" rIns="0" bIns="0" rtlCol="0" anchor="ctr"/>
          <a:lstStyle/>
          <a:p>
            <a:pPr marL="0" indent="0" algn="ctr">
              <a:buNone/>
            </a:pPr>
            <a:r>
              <a:rPr lang="en-US" sz="2200" b="1" dirty="0">
                <a:solidFill>
                  <a:srgbClr val="FFFFFF"/>
                </a:solidFill>
                <a:latin typeface="Times New Roman" panose="02020603050405020304" pitchFamily="18" charset="0"/>
                <a:ea typeface="Calibri" pitchFamily="34" charset="-122"/>
                <a:cs typeface="Times New Roman" panose="02020603050405020304" pitchFamily="18" charset="0"/>
              </a:rPr>
              <a:t>19,884</a:t>
            </a:r>
            <a:endParaRPr lang="en-US" sz="2200" dirty="0">
              <a:latin typeface="Times New Roman" panose="02020603050405020304" pitchFamily="18" charset="0"/>
              <a:cs typeface="Times New Roman" panose="02020603050405020304" pitchFamily="18" charset="0"/>
            </a:endParaRPr>
          </a:p>
        </p:txBody>
      </p:sp>
      <p:sp>
        <p:nvSpPr>
          <p:cNvPr id="6" name="Text 4"/>
          <p:cNvSpPr/>
          <p:nvPr/>
        </p:nvSpPr>
        <p:spPr>
          <a:xfrm>
            <a:off x="365760" y="1755648"/>
            <a:ext cx="2743200" cy="457200"/>
          </a:xfrm>
          <a:prstGeom prst="rect">
            <a:avLst/>
          </a:prstGeom>
          <a:noFill/>
          <a:ln/>
        </p:spPr>
        <p:txBody>
          <a:bodyPr wrap="square" lIns="0" tIns="0" rIns="0" bIns="0" rtlCol="0" anchor="ctr"/>
          <a:lstStyle/>
          <a:p>
            <a:pPr marL="0" indent="0" algn="ctr">
              <a:buNone/>
            </a:pPr>
            <a:r>
              <a:rPr lang="en-US" sz="1200" dirty="0">
                <a:solidFill>
                  <a:srgbClr val="FFFFFF"/>
                </a:solidFill>
                <a:latin typeface="Times New Roman" panose="02020603050405020304" pitchFamily="18" charset="0"/>
                <a:ea typeface="Calibri" pitchFamily="34" charset="-122"/>
                <a:cs typeface="Times New Roman" panose="02020603050405020304" pitchFamily="18" charset="0"/>
              </a:rPr>
              <a:t>Total Genes analyzed</a:t>
            </a:r>
            <a:endParaRPr lang="en-US" sz="1200" dirty="0">
              <a:latin typeface="Times New Roman" panose="02020603050405020304" pitchFamily="18" charset="0"/>
              <a:cs typeface="Times New Roman" panose="02020603050405020304" pitchFamily="18" charset="0"/>
            </a:endParaRPr>
          </a:p>
          <a:p>
            <a:pPr marL="0" indent="0" algn="ctr">
              <a:buNone/>
            </a:pPr>
            <a:endParaRPr lang="en-US" sz="1000" dirty="0"/>
          </a:p>
        </p:txBody>
      </p:sp>
      <p:sp>
        <p:nvSpPr>
          <p:cNvPr id="7" name="Shape 5"/>
          <p:cNvSpPr/>
          <p:nvPr/>
        </p:nvSpPr>
        <p:spPr>
          <a:xfrm>
            <a:off x="3291840" y="1051560"/>
            <a:ext cx="2743200" cy="1234440"/>
          </a:xfrm>
          <a:prstGeom prst="rect">
            <a:avLst/>
          </a:prstGeom>
          <a:solidFill>
            <a:srgbClr val="0F7173"/>
          </a:solidFill>
          <a:ln w="12700">
            <a:solidFill>
              <a:srgbClr val="0F7173"/>
            </a:solidFill>
            <a:prstDash val="solid"/>
          </a:ln>
        </p:spPr>
        <p:txBody>
          <a:bodyPr/>
          <a:lstStyle/>
          <a:p>
            <a:endParaRPr lang="en-US"/>
          </a:p>
        </p:txBody>
      </p:sp>
      <p:sp>
        <p:nvSpPr>
          <p:cNvPr id="8" name="Text 6"/>
          <p:cNvSpPr/>
          <p:nvPr/>
        </p:nvSpPr>
        <p:spPr>
          <a:xfrm>
            <a:off x="3291840" y="1097280"/>
            <a:ext cx="2743200" cy="685800"/>
          </a:xfrm>
          <a:prstGeom prst="rect">
            <a:avLst/>
          </a:prstGeom>
          <a:noFill/>
          <a:ln/>
        </p:spPr>
        <p:txBody>
          <a:bodyPr wrap="square" lIns="0" tIns="0" rIns="0" bIns="0" rtlCol="0" anchor="ctr"/>
          <a:lstStyle/>
          <a:p>
            <a:pPr marL="0" indent="0" algn="ctr">
              <a:buNone/>
            </a:pPr>
            <a:r>
              <a:rPr lang="en-US" sz="2200" b="1" dirty="0">
                <a:solidFill>
                  <a:srgbClr val="FFFFFF"/>
                </a:solidFill>
                <a:latin typeface="Times New Roman" panose="02020603050405020304" pitchFamily="18" charset="0"/>
                <a:ea typeface="Calibri" pitchFamily="34" charset="-122"/>
                <a:cs typeface="Times New Roman" panose="02020603050405020304" pitchFamily="18" charset="0"/>
              </a:rPr>
              <a:t>DEGs ↑</a:t>
            </a:r>
            <a:endParaRPr lang="en-US" sz="2200" dirty="0">
              <a:latin typeface="Times New Roman" panose="02020603050405020304" pitchFamily="18" charset="0"/>
              <a:cs typeface="Times New Roman" panose="02020603050405020304" pitchFamily="18" charset="0"/>
            </a:endParaRPr>
          </a:p>
        </p:txBody>
      </p:sp>
      <p:sp>
        <p:nvSpPr>
          <p:cNvPr id="9" name="Text 7"/>
          <p:cNvSpPr/>
          <p:nvPr/>
        </p:nvSpPr>
        <p:spPr>
          <a:xfrm>
            <a:off x="3291840" y="1755648"/>
            <a:ext cx="2743200" cy="457200"/>
          </a:xfrm>
          <a:prstGeom prst="rect">
            <a:avLst/>
          </a:prstGeom>
          <a:noFill/>
          <a:ln/>
        </p:spPr>
        <p:txBody>
          <a:bodyPr wrap="square" lIns="0" tIns="0" rIns="0" bIns="0" rtlCol="0" anchor="ctr"/>
          <a:lstStyle/>
          <a:p>
            <a:pPr marL="0" indent="0" algn="ctr">
              <a:buNone/>
            </a:pPr>
            <a:r>
              <a:rPr lang="en-US" sz="1200" dirty="0">
                <a:solidFill>
                  <a:srgbClr val="FFFFFF"/>
                </a:solidFill>
                <a:latin typeface="Times New Roman" panose="02020603050405020304" pitchFamily="18" charset="0"/>
                <a:ea typeface="Calibri" pitchFamily="34" charset="-122"/>
                <a:cs typeface="Times New Roman" panose="02020603050405020304" pitchFamily="18" charset="0"/>
              </a:rPr>
              <a:t>Upregulated</a:t>
            </a:r>
            <a:endParaRPr lang="en-US" sz="1200" dirty="0">
              <a:latin typeface="Times New Roman" panose="02020603050405020304" pitchFamily="18" charset="0"/>
              <a:cs typeface="Times New Roman" panose="02020603050405020304" pitchFamily="18" charset="0"/>
            </a:endParaRPr>
          </a:p>
          <a:p>
            <a:pPr marL="0" indent="0" algn="ctr">
              <a:buNone/>
            </a:pPr>
            <a:r>
              <a:rPr lang="en-US" sz="1200" dirty="0">
                <a:solidFill>
                  <a:srgbClr val="FFFFFF"/>
                </a:solidFill>
                <a:latin typeface="Times New Roman" panose="02020603050405020304" pitchFamily="18" charset="0"/>
                <a:ea typeface="Calibri" pitchFamily="34" charset="-122"/>
                <a:cs typeface="Times New Roman" panose="02020603050405020304" pitchFamily="18" charset="0"/>
              </a:rPr>
              <a:t>immune / inflammatory</a:t>
            </a:r>
            <a:endParaRPr lang="en-US" sz="1200" dirty="0">
              <a:latin typeface="Times New Roman" panose="02020603050405020304" pitchFamily="18" charset="0"/>
              <a:cs typeface="Times New Roman" panose="02020603050405020304" pitchFamily="18" charset="0"/>
            </a:endParaRPr>
          </a:p>
        </p:txBody>
      </p:sp>
      <p:sp>
        <p:nvSpPr>
          <p:cNvPr id="10" name="Shape 8"/>
          <p:cNvSpPr/>
          <p:nvPr/>
        </p:nvSpPr>
        <p:spPr>
          <a:xfrm>
            <a:off x="6217920" y="1051560"/>
            <a:ext cx="2743200" cy="1234440"/>
          </a:xfrm>
          <a:prstGeom prst="rect">
            <a:avLst/>
          </a:prstGeom>
          <a:solidFill>
            <a:srgbClr val="E63946"/>
          </a:solidFill>
          <a:ln w="12700">
            <a:solidFill>
              <a:srgbClr val="E63946"/>
            </a:solidFill>
            <a:prstDash val="solid"/>
          </a:ln>
        </p:spPr>
        <p:txBody>
          <a:bodyPr/>
          <a:lstStyle/>
          <a:p>
            <a:endParaRPr lang="en-US"/>
          </a:p>
        </p:txBody>
      </p:sp>
      <p:sp>
        <p:nvSpPr>
          <p:cNvPr id="11" name="Text 9"/>
          <p:cNvSpPr/>
          <p:nvPr/>
        </p:nvSpPr>
        <p:spPr>
          <a:xfrm>
            <a:off x="6217920" y="1097280"/>
            <a:ext cx="2743200" cy="685800"/>
          </a:xfrm>
          <a:prstGeom prst="rect">
            <a:avLst/>
          </a:prstGeom>
          <a:noFill/>
          <a:ln/>
        </p:spPr>
        <p:txBody>
          <a:bodyPr wrap="square" lIns="0" tIns="0" rIns="0" bIns="0" rtlCol="0" anchor="ctr"/>
          <a:lstStyle/>
          <a:p>
            <a:pPr marL="0" indent="0" algn="ctr">
              <a:buNone/>
            </a:pPr>
            <a:r>
              <a:rPr lang="en-US" sz="2200" b="1" dirty="0">
                <a:solidFill>
                  <a:srgbClr val="FFFFFF"/>
                </a:solidFill>
                <a:latin typeface="Times New Roman" panose="02020603050405020304" pitchFamily="18" charset="0"/>
                <a:ea typeface="Calibri" pitchFamily="34" charset="-122"/>
                <a:cs typeface="Times New Roman" panose="02020603050405020304" pitchFamily="18" charset="0"/>
              </a:rPr>
              <a:t>DEGs ↓</a:t>
            </a:r>
            <a:endParaRPr lang="en-US" sz="2200" dirty="0">
              <a:latin typeface="Times New Roman" panose="02020603050405020304" pitchFamily="18" charset="0"/>
              <a:cs typeface="Times New Roman" panose="02020603050405020304" pitchFamily="18" charset="0"/>
            </a:endParaRPr>
          </a:p>
        </p:txBody>
      </p:sp>
      <p:sp>
        <p:nvSpPr>
          <p:cNvPr id="12" name="Text 10"/>
          <p:cNvSpPr/>
          <p:nvPr/>
        </p:nvSpPr>
        <p:spPr>
          <a:xfrm>
            <a:off x="6217920" y="1755648"/>
            <a:ext cx="2743200" cy="457200"/>
          </a:xfrm>
          <a:prstGeom prst="rect">
            <a:avLst/>
          </a:prstGeom>
          <a:noFill/>
          <a:ln/>
        </p:spPr>
        <p:txBody>
          <a:bodyPr wrap="square" lIns="0" tIns="0" rIns="0" bIns="0" rtlCol="0" anchor="ctr"/>
          <a:lstStyle/>
          <a:p>
            <a:pPr marL="0" indent="0" algn="ctr">
              <a:buNone/>
            </a:pPr>
            <a:r>
              <a:rPr lang="en-US" sz="1200" dirty="0">
                <a:solidFill>
                  <a:srgbClr val="FFFFFF"/>
                </a:solidFill>
                <a:latin typeface="Times New Roman" panose="02020603050405020304" pitchFamily="18" charset="0"/>
                <a:ea typeface="Calibri" pitchFamily="34" charset="-122"/>
                <a:cs typeface="Times New Roman" panose="02020603050405020304" pitchFamily="18" charset="0"/>
              </a:rPr>
              <a:t>Downregulated</a:t>
            </a:r>
            <a:endParaRPr lang="en-US" sz="1200" dirty="0">
              <a:latin typeface="Times New Roman" panose="02020603050405020304" pitchFamily="18" charset="0"/>
              <a:cs typeface="Times New Roman" panose="02020603050405020304" pitchFamily="18" charset="0"/>
            </a:endParaRPr>
          </a:p>
          <a:p>
            <a:pPr marL="0" indent="0" algn="ctr">
              <a:buNone/>
            </a:pPr>
            <a:r>
              <a:rPr lang="en-US" sz="1200" dirty="0">
                <a:solidFill>
                  <a:srgbClr val="FFFFFF"/>
                </a:solidFill>
                <a:latin typeface="Times New Roman" panose="02020603050405020304" pitchFamily="18" charset="0"/>
                <a:ea typeface="Calibri" pitchFamily="34" charset="-122"/>
                <a:cs typeface="Times New Roman" panose="02020603050405020304" pitchFamily="18" charset="0"/>
              </a:rPr>
              <a:t>structural / muscle</a:t>
            </a:r>
            <a:endParaRPr lang="en-US" sz="1200" dirty="0">
              <a:latin typeface="Times New Roman" panose="02020603050405020304" pitchFamily="18" charset="0"/>
              <a:cs typeface="Times New Roman" panose="02020603050405020304" pitchFamily="18" charset="0"/>
            </a:endParaRPr>
          </a:p>
        </p:txBody>
      </p:sp>
      <p:sp>
        <p:nvSpPr>
          <p:cNvPr id="13" name="Shape 11"/>
          <p:cNvSpPr/>
          <p:nvPr/>
        </p:nvSpPr>
        <p:spPr>
          <a:xfrm>
            <a:off x="365760" y="2423160"/>
            <a:ext cx="8412480" cy="2537460"/>
          </a:xfrm>
          <a:prstGeom prst="rect">
            <a:avLst/>
          </a:prstGeom>
          <a:solidFill>
            <a:srgbClr val="FFFFFF"/>
          </a:solidFill>
          <a:ln w="12700">
            <a:solidFill>
              <a:srgbClr val="E2E8F0"/>
            </a:solidFill>
            <a:prstDash val="solid"/>
          </a:ln>
        </p:spPr>
        <p:txBody>
          <a:bodyPr/>
          <a:lstStyle/>
          <a:p>
            <a:endParaRPr lang="en-US"/>
          </a:p>
        </p:txBody>
      </p:sp>
      <p:sp>
        <p:nvSpPr>
          <p:cNvPr id="14" name="Text 12"/>
          <p:cNvSpPr/>
          <p:nvPr/>
        </p:nvSpPr>
        <p:spPr>
          <a:xfrm>
            <a:off x="502920" y="2468880"/>
            <a:ext cx="8229600" cy="320040"/>
          </a:xfrm>
          <a:prstGeom prst="rect">
            <a:avLst/>
          </a:prstGeom>
          <a:noFill/>
          <a:ln/>
        </p:spPr>
        <p:txBody>
          <a:bodyPr wrap="square" lIns="0" tIns="0" rIns="0" bIns="0" rtlCol="0" anchor="ctr"/>
          <a:lstStyle/>
          <a:p>
            <a:pPr marL="0" indent="0">
              <a:buNone/>
            </a:pPr>
            <a:r>
              <a:rPr lang="en-US" sz="2000" b="1" dirty="0">
                <a:solidFill>
                  <a:srgbClr val="0D2B45"/>
                </a:solidFill>
                <a:latin typeface="Times New Roman" panose="02020603050405020304" pitchFamily="18" charset="0"/>
                <a:ea typeface="Calibri" pitchFamily="34" charset="-122"/>
                <a:cs typeface="Times New Roman" panose="02020603050405020304" pitchFamily="18" charset="0"/>
              </a:rPr>
              <a:t>Notable DEGs</a:t>
            </a:r>
            <a:endParaRPr lang="en-US" sz="2000" dirty="0">
              <a:latin typeface="Times New Roman" panose="02020603050405020304" pitchFamily="18" charset="0"/>
              <a:cs typeface="Times New Roman" panose="02020603050405020304" pitchFamily="18" charset="0"/>
            </a:endParaRPr>
          </a:p>
        </p:txBody>
      </p:sp>
      <p:sp>
        <p:nvSpPr>
          <p:cNvPr id="15" name="Shape 13"/>
          <p:cNvSpPr/>
          <p:nvPr/>
        </p:nvSpPr>
        <p:spPr>
          <a:xfrm>
            <a:off x="365760" y="2807208"/>
            <a:ext cx="1371600" cy="411480"/>
          </a:xfrm>
          <a:prstGeom prst="rect">
            <a:avLst/>
          </a:prstGeom>
          <a:solidFill>
            <a:srgbClr val="E8F4F4"/>
          </a:solidFill>
          <a:ln w="6350">
            <a:solidFill>
              <a:srgbClr val="E2E8F0"/>
            </a:solidFill>
            <a:prstDash val="solid"/>
          </a:ln>
        </p:spPr>
        <p:txBody>
          <a:bodyPr/>
          <a:lstStyle/>
          <a:p>
            <a:endParaRPr lang="en-US"/>
          </a:p>
        </p:txBody>
      </p:sp>
      <p:sp>
        <p:nvSpPr>
          <p:cNvPr id="16" name="Text 14"/>
          <p:cNvSpPr/>
          <p:nvPr/>
        </p:nvSpPr>
        <p:spPr>
          <a:xfrm>
            <a:off x="411480" y="2834640"/>
            <a:ext cx="1280160" cy="365760"/>
          </a:xfrm>
          <a:prstGeom prst="rect">
            <a:avLst/>
          </a:prstGeom>
          <a:noFill/>
          <a:ln/>
        </p:spPr>
        <p:txBody>
          <a:bodyPr wrap="square" lIns="0" tIns="0" rIns="0" bIns="0" rtlCol="0" anchor="ctr"/>
          <a:lstStyle/>
          <a:p>
            <a:pPr marL="0" indent="0">
              <a:buNone/>
            </a:pPr>
            <a:r>
              <a:rPr lang="en-US" sz="1100" b="1" dirty="0">
                <a:solidFill>
                  <a:srgbClr val="0D2B45"/>
                </a:solidFill>
                <a:latin typeface="Times New Roman" panose="02020603050405020304" pitchFamily="18" charset="0"/>
                <a:ea typeface="Calibri" pitchFamily="34" charset="-122"/>
                <a:cs typeface="Times New Roman" panose="02020603050405020304" pitchFamily="18" charset="0"/>
              </a:rPr>
              <a:t>Gene</a:t>
            </a:r>
            <a:endParaRPr lang="en-US" sz="1100" dirty="0">
              <a:latin typeface="Times New Roman" panose="02020603050405020304" pitchFamily="18" charset="0"/>
              <a:cs typeface="Times New Roman" panose="02020603050405020304" pitchFamily="18" charset="0"/>
            </a:endParaRPr>
          </a:p>
        </p:txBody>
      </p:sp>
      <p:sp>
        <p:nvSpPr>
          <p:cNvPr id="17" name="Shape 15"/>
          <p:cNvSpPr/>
          <p:nvPr/>
        </p:nvSpPr>
        <p:spPr>
          <a:xfrm>
            <a:off x="1737360" y="2807208"/>
            <a:ext cx="1645920" cy="411480"/>
          </a:xfrm>
          <a:prstGeom prst="rect">
            <a:avLst/>
          </a:prstGeom>
          <a:solidFill>
            <a:srgbClr val="E8F4F4"/>
          </a:solidFill>
          <a:ln w="6350">
            <a:solidFill>
              <a:srgbClr val="E2E8F0"/>
            </a:solidFill>
            <a:prstDash val="solid"/>
          </a:ln>
        </p:spPr>
        <p:txBody>
          <a:bodyPr/>
          <a:lstStyle/>
          <a:p>
            <a:endParaRPr lang="en-US"/>
          </a:p>
        </p:txBody>
      </p:sp>
      <p:sp>
        <p:nvSpPr>
          <p:cNvPr id="18" name="Text 16"/>
          <p:cNvSpPr/>
          <p:nvPr/>
        </p:nvSpPr>
        <p:spPr>
          <a:xfrm>
            <a:off x="1783080" y="2834640"/>
            <a:ext cx="1554480" cy="365760"/>
          </a:xfrm>
          <a:prstGeom prst="rect">
            <a:avLst/>
          </a:prstGeom>
          <a:noFill/>
          <a:ln/>
        </p:spPr>
        <p:txBody>
          <a:bodyPr wrap="square" lIns="0" tIns="0" rIns="0" bIns="0" rtlCol="0" anchor="ctr"/>
          <a:lstStyle/>
          <a:p>
            <a:pPr marL="0" indent="0">
              <a:buNone/>
            </a:pPr>
            <a:r>
              <a:rPr lang="en-US" sz="1100" b="1" dirty="0">
                <a:solidFill>
                  <a:srgbClr val="0D2B45"/>
                </a:solidFill>
                <a:latin typeface="Times New Roman" panose="02020603050405020304" pitchFamily="18" charset="0"/>
                <a:ea typeface="Calibri" pitchFamily="34" charset="-122"/>
                <a:cs typeface="Times New Roman" panose="02020603050405020304" pitchFamily="18" charset="0"/>
              </a:rPr>
              <a:t>Direction</a:t>
            </a:r>
            <a:endParaRPr lang="en-US" sz="1100" dirty="0">
              <a:latin typeface="Times New Roman" panose="02020603050405020304" pitchFamily="18" charset="0"/>
              <a:cs typeface="Times New Roman" panose="02020603050405020304" pitchFamily="18" charset="0"/>
            </a:endParaRPr>
          </a:p>
        </p:txBody>
      </p:sp>
      <p:sp>
        <p:nvSpPr>
          <p:cNvPr id="19" name="Shape 17"/>
          <p:cNvSpPr/>
          <p:nvPr/>
        </p:nvSpPr>
        <p:spPr>
          <a:xfrm>
            <a:off x="3383280" y="2807208"/>
            <a:ext cx="5212080" cy="411480"/>
          </a:xfrm>
          <a:prstGeom prst="rect">
            <a:avLst/>
          </a:prstGeom>
          <a:solidFill>
            <a:srgbClr val="E8F4F4"/>
          </a:solidFill>
          <a:ln w="6350">
            <a:solidFill>
              <a:srgbClr val="E2E8F0"/>
            </a:solidFill>
            <a:prstDash val="solid"/>
          </a:ln>
        </p:spPr>
        <p:txBody>
          <a:bodyPr/>
          <a:lstStyle/>
          <a:p>
            <a:endParaRPr lang="en-US"/>
          </a:p>
        </p:txBody>
      </p:sp>
      <p:sp>
        <p:nvSpPr>
          <p:cNvPr id="20" name="Text 18"/>
          <p:cNvSpPr/>
          <p:nvPr/>
        </p:nvSpPr>
        <p:spPr>
          <a:xfrm>
            <a:off x="3429000" y="2834640"/>
            <a:ext cx="5120640" cy="365760"/>
          </a:xfrm>
          <a:prstGeom prst="rect">
            <a:avLst/>
          </a:prstGeom>
          <a:noFill/>
          <a:ln/>
        </p:spPr>
        <p:txBody>
          <a:bodyPr wrap="square" lIns="0" tIns="0" rIns="0" bIns="0" rtlCol="0" anchor="ctr"/>
          <a:lstStyle/>
          <a:p>
            <a:pPr marL="0" indent="0">
              <a:buNone/>
            </a:pPr>
            <a:r>
              <a:rPr lang="en-US" sz="1100" b="1" dirty="0">
                <a:solidFill>
                  <a:srgbClr val="0D2B45"/>
                </a:solidFill>
                <a:latin typeface="Times New Roman" panose="02020603050405020304" pitchFamily="18" charset="0"/>
                <a:ea typeface="Calibri" pitchFamily="34" charset="-122"/>
                <a:cs typeface="Times New Roman" panose="02020603050405020304" pitchFamily="18" charset="0"/>
              </a:rPr>
              <a:t>Function</a:t>
            </a:r>
            <a:endParaRPr lang="en-US" sz="1100" dirty="0">
              <a:latin typeface="Times New Roman" panose="02020603050405020304" pitchFamily="18" charset="0"/>
              <a:cs typeface="Times New Roman" panose="02020603050405020304" pitchFamily="18" charset="0"/>
            </a:endParaRPr>
          </a:p>
        </p:txBody>
      </p:sp>
      <p:sp>
        <p:nvSpPr>
          <p:cNvPr id="21" name="Text 19"/>
          <p:cNvSpPr/>
          <p:nvPr/>
        </p:nvSpPr>
        <p:spPr>
          <a:xfrm>
            <a:off x="411480" y="3264408"/>
            <a:ext cx="1280160" cy="365760"/>
          </a:xfrm>
          <a:prstGeom prst="rect">
            <a:avLst/>
          </a:prstGeom>
          <a:noFill/>
          <a:ln/>
        </p:spPr>
        <p:txBody>
          <a:bodyPr wrap="square" lIns="0" tIns="0" rIns="0" bIns="0" rtlCol="0" anchor="ctr"/>
          <a:lstStyle/>
          <a:p>
            <a:pPr marL="0" indent="0">
              <a:buNone/>
            </a:pPr>
            <a:r>
              <a:rPr lang="en-US" sz="1050" dirty="0">
                <a:solidFill>
                  <a:srgbClr val="1E2D3D"/>
                </a:solidFill>
                <a:latin typeface="Times New Roman" panose="02020603050405020304" pitchFamily="18" charset="0"/>
                <a:ea typeface="Calibri" pitchFamily="34" charset="-122"/>
                <a:cs typeface="Times New Roman" panose="02020603050405020304" pitchFamily="18" charset="0"/>
              </a:rPr>
              <a:t>CXCL9</a:t>
            </a:r>
            <a:endParaRPr lang="en-US" sz="1050" dirty="0">
              <a:latin typeface="Times New Roman" panose="02020603050405020304" pitchFamily="18" charset="0"/>
              <a:cs typeface="Times New Roman" panose="02020603050405020304" pitchFamily="18" charset="0"/>
            </a:endParaRPr>
          </a:p>
        </p:txBody>
      </p:sp>
      <p:sp>
        <p:nvSpPr>
          <p:cNvPr id="22" name="Text 20"/>
          <p:cNvSpPr/>
          <p:nvPr/>
        </p:nvSpPr>
        <p:spPr>
          <a:xfrm>
            <a:off x="1783080" y="3264408"/>
            <a:ext cx="1554480" cy="365760"/>
          </a:xfrm>
          <a:prstGeom prst="rect">
            <a:avLst/>
          </a:prstGeom>
          <a:noFill/>
          <a:ln/>
        </p:spPr>
        <p:txBody>
          <a:bodyPr wrap="square" lIns="0" tIns="0" rIns="0" bIns="0" rtlCol="0" anchor="ctr"/>
          <a:lstStyle/>
          <a:p>
            <a:pPr marL="0" indent="0">
              <a:buNone/>
            </a:pPr>
            <a:r>
              <a:rPr lang="en-US" sz="1050" dirty="0">
                <a:solidFill>
                  <a:srgbClr val="1E2D3D"/>
                </a:solidFill>
                <a:latin typeface="Times New Roman" panose="02020603050405020304" pitchFamily="18" charset="0"/>
                <a:ea typeface="Calibri" pitchFamily="34" charset="-122"/>
                <a:cs typeface="Times New Roman" panose="02020603050405020304" pitchFamily="18" charset="0"/>
              </a:rPr>
              <a:t>↑ Upregulated</a:t>
            </a:r>
            <a:endParaRPr lang="en-US" sz="1050" dirty="0">
              <a:latin typeface="Times New Roman" panose="02020603050405020304" pitchFamily="18" charset="0"/>
              <a:cs typeface="Times New Roman" panose="02020603050405020304" pitchFamily="18" charset="0"/>
            </a:endParaRPr>
          </a:p>
        </p:txBody>
      </p:sp>
      <p:sp>
        <p:nvSpPr>
          <p:cNvPr id="23" name="Text 21"/>
          <p:cNvSpPr/>
          <p:nvPr/>
        </p:nvSpPr>
        <p:spPr>
          <a:xfrm>
            <a:off x="3429000" y="3264408"/>
            <a:ext cx="5120640" cy="365760"/>
          </a:xfrm>
          <a:prstGeom prst="rect">
            <a:avLst/>
          </a:prstGeom>
          <a:noFill/>
          <a:ln/>
        </p:spPr>
        <p:txBody>
          <a:bodyPr wrap="square" lIns="0" tIns="0" rIns="0" bIns="0" rtlCol="0" anchor="ctr"/>
          <a:lstStyle/>
          <a:p>
            <a:pPr marL="0" indent="0">
              <a:buNone/>
            </a:pPr>
            <a:r>
              <a:rPr lang="en-US" sz="1050" dirty="0">
                <a:solidFill>
                  <a:srgbClr val="1E2D3D"/>
                </a:solidFill>
                <a:latin typeface="Times New Roman" panose="02020603050405020304" pitchFamily="18" charset="0"/>
                <a:ea typeface="Calibri" pitchFamily="34" charset="-122"/>
                <a:cs typeface="Times New Roman" panose="02020603050405020304" pitchFamily="18" charset="0"/>
              </a:rPr>
              <a:t>Promotes protective immune responses (chemokine)</a:t>
            </a:r>
            <a:endParaRPr lang="en-US" sz="1050" dirty="0">
              <a:latin typeface="Times New Roman" panose="02020603050405020304" pitchFamily="18" charset="0"/>
              <a:cs typeface="Times New Roman" panose="02020603050405020304" pitchFamily="18" charset="0"/>
            </a:endParaRPr>
          </a:p>
        </p:txBody>
      </p:sp>
      <p:sp>
        <p:nvSpPr>
          <p:cNvPr id="24" name="Text 22"/>
          <p:cNvSpPr/>
          <p:nvPr/>
        </p:nvSpPr>
        <p:spPr>
          <a:xfrm>
            <a:off x="411480" y="3694176"/>
            <a:ext cx="1280160" cy="365760"/>
          </a:xfrm>
          <a:prstGeom prst="rect">
            <a:avLst/>
          </a:prstGeom>
          <a:noFill/>
          <a:ln/>
        </p:spPr>
        <p:txBody>
          <a:bodyPr wrap="square" lIns="0" tIns="0" rIns="0" bIns="0" rtlCol="0" anchor="ctr"/>
          <a:lstStyle/>
          <a:p>
            <a:pPr marL="0" indent="0">
              <a:buNone/>
            </a:pPr>
            <a:r>
              <a:rPr lang="en-US" sz="1050" dirty="0">
                <a:solidFill>
                  <a:srgbClr val="1E2D3D"/>
                </a:solidFill>
                <a:latin typeface="Times New Roman" panose="02020603050405020304" pitchFamily="18" charset="0"/>
                <a:ea typeface="Calibri" pitchFamily="34" charset="-122"/>
                <a:cs typeface="Times New Roman" panose="02020603050405020304" pitchFamily="18" charset="0"/>
              </a:rPr>
              <a:t>CXCL10</a:t>
            </a:r>
            <a:endParaRPr lang="en-US" sz="1050" dirty="0">
              <a:latin typeface="Times New Roman" panose="02020603050405020304" pitchFamily="18" charset="0"/>
              <a:cs typeface="Times New Roman" panose="02020603050405020304" pitchFamily="18" charset="0"/>
            </a:endParaRPr>
          </a:p>
        </p:txBody>
      </p:sp>
      <p:sp>
        <p:nvSpPr>
          <p:cNvPr id="25" name="Text 23"/>
          <p:cNvSpPr/>
          <p:nvPr/>
        </p:nvSpPr>
        <p:spPr>
          <a:xfrm>
            <a:off x="1783080" y="3694176"/>
            <a:ext cx="1554480" cy="365760"/>
          </a:xfrm>
          <a:prstGeom prst="rect">
            <a:avLst/>
          </a:prstGeom>
          <a:noFill/>
          <a:ln/>
        </p:spPr>
        <p:txBody>
          <a:bodyPr wrap="square" lIns="0" tIns="0" rIns="0" bIns="0" rtlCol="0" anchor="ctr"/>
          <a:lstStyle/>
          <a:p>
            <a:pPr marL="0" indent="0">
              <a:buNone/>
            </a:pPr>
            <a:r>
              <a:rPr lang="en-US" sz="1050" dirty="0">
                <a:solidFill>
                  <a:srgbClr val="1E2D3D"/>
                </a:solidFill>
                <a:latin typeface="Times New Roman" panose="02020603050405020304" pitchFamily="18" charset="0"/>
                <a:ea typeface="Calibri" pitchFamily="34" charset="-122"/>
                <a:cs typeface="Times New Roman" panose="02020603050405020304" pitchFamily="18" charset="0"/>
              </a:rPr>
              <a:t>↑ Upregulated</a:t>
            </a:r>
            <a:endParaRPr lang="en-US" sz="1050" dirty="0">
              <a:latin typeface="Times New Roman" panose="02020603050405020304" pitchFamily="18" charset="0"/>
              <a:cs typeface="Times New Roman" panose="02020603050405020304" pitchFamily="18" charset="0"/>
            </a:endParaRPr>
          </a:p>
        </p:txBody>
      </p:sp>
      <p:sp>
        <p:nvSpPr>
          <p:cNvPr id="26" name="Text 24"/>
          <p:cNvSpPr/>
          <p:nvPr/>
        </p:nvSpPr>
        <p:spPr>
          <a:xfrm>
            <a:off x="3429000" y="3694176"/>
            <a:ext cx="5120640" cy="365760"/>
          </a:xfrm>
          <a:prstGeom prst="rect">
            <a:avLst/>
          </a:prstGeom>
          <a:noFill/>
          <a:ln/>
        </p:spPr>
        <p:txBody>
          <a:bodyPr wrap="square" lIns="0" tIns="0" rIns="0" bIns="0" rtlCol="0" anchor="ctr"/>
          <a:lstStyle/>
          <a:p>
            <a:pPr marL="0" indent="0">
              <a:buNone/>
            </a:pPr>
            <a:r>
              <a:rPr lang="en-US" sz="1050" dirty="0">
                <a:solidFill>
                  <a:srgbClr val="1E2D3D"/>
                </a:solidFill>
                <a:latin typeface="Times New Roman" panose="02020603050405020304" pitchFamily="18" charset="0"/>
                <a:ea typeface="Calibri" pitchFamily="34" charset="-122"/>
                <a:cs typeface="Times New Roman" panose="02020603050405020304" pitchFamily="18" charset="0"/>
              </a:rPr>
              <a:t>Recruits immune cells; promotes anti-TB immunity</a:t>
            </a:r>
            <a:endParaRPr lang="en-US" sz="1050" dirty="0">
              <a:latin typeface="Times New Roman" panose="02020603050405020304" pitchFamily="18" charset="0"/>
              <a:cs typeface="Times New Roman" panose="02020603050405020304" pitchFamily="18" charset="0"/>
            </a:endParaRPr>
          </a:p>
        </p:txBody>
      </p:sp>
      <p:sp>
        <p:nvSpPr>
          <p:cNvPr id="27" name="Text 25"/>
          <p:cNvSpPr/>
          <p:nvPr/>
        </p:nvSpPr>
        <p:spPr>
          <a:xfrm>
            <a:off x="411480" y="4123944"/>
            <a:ext cx="1280160" cy="365760"/>
          </a:xfrm>
          <a:prstGeom prst="rect">
            <a:avLst/>
          </a:prstGeom>
          <a:noFill/>
          <a:ln/>
        </p:spPr>
        <p:txBody>
          <a:bodyPr wrap="square" lIns="0" tIns="0" rIns="0" bIns="0" rtlCol="0" anchor="ctr"/>
          <a:lstStyle/>
          <a:p>
            <a:pPr marL="0" indent="0">
              <a:buNone/>
            </a:pPr>
            <a:r>
              <a:rPr lang="en-US" sz="1050" dirty="0">
                <a:solidFill>
                  <a:srgbClr val="1E2D3D"/>
                </a:solidFill>
                <a:latin typeface="Times New Roman" panose="02020603050405020304" pitchFamily="18" charset="0"/>
                <a:ea typeface="Calibri" pitchFamily="34" charset="-122"/>
                <a:cs typeface="Times New Roman" panose="02020603050405020304" pitchFamily="18" charset="0"/>
              </a:rPr>
              <a:t>IL1B</a:t>
            </a:r>
            <a:endParaRPr lang="en-US" sz="1050" dirty="0">
              <a:latin typeface="Times New Roman" panose="02020603050405020304" pitchFamily="18" charset="0"/>
              <a:cs typeface="Times New Roman" panose="02020603050405020304" pitchFamily="18" charset="0"/>
            </a:endParaRPr>
          </a:p>
        </p:txBody>
      </p:sp>
      <p:sp>
        <p:nvSpPr>
          <p:cNvPr id="28" name="Text 26"/>
          <p:cNvSpPr/>
          <p:nvPr/>
        </p:nvSpPr>
        <p:spPr>
          <a:xfrm>
            <a:off x="1783080" y="4123944"/>
            <a:ext cx="1554480" cy="365760"/>
          </a:xfrm>
          <a:prstGeom prst="rect">
            <a:avLst/>
          </a:prstGeom>
          <a:noFill/>
          <a:ln/>
        </p:spPr>
        <p:txBody>
          <a:bodyPr wrap="square" lIns="0" tIns="0" rIns="0" bIns="0" rtlCol="0" anchor="ctr"/>
          <a:lstStyle/>
          <a:p>
            <a:pPr marL="0" indent="0">
              <a:buNone/>
            </a:pPr>
            <a:r>
              <a:rPr lang="en-US" sz="1050" dirty="0">
                <a:solidFill>
                  <a:srgbClr val="1E2D3D"/>
                </a:solidFill>
                <a:latin typeface="Times New Roman" panose="02020603050405020304" pitchFamily="18" charset="0"/>
                <a:ea typeface="Calibri" pitchFamily="34" charset="-122"/>
                <a:cs typeface="Times New Roman" panose="02020603050405020304" pitchFamily="18" charset="0"/>
              </a:rPr>
              <a:t>↑ Upregulated</a:t>
            </a:r>
            <a:endParaRPr lang="en-US" sz="1050" dirty="0">
              <a:latin typeface="Times New Roman" panose="02020603050405020304" pitchFamily="18" charset="0"/>
              <a:cs typeface="Times New Roman" panose="02020603050405020304" pitchFamily="18" charset="0"/>
            </a:endParaRPr>
          </a:p>
        </p:txBody>
      </p:sp>
      <p:sp>
        <p:nvSpPr>
          <p:cNvPr id="29" name="Text 27"/>
          <p:cNvSpPr/>
          <p:nvPr/>
        </p:nvSpPr>
        <p:spPr>
          <a:xfrm>
            <a:off x="3429000" y="4123944"/>
            <a:ext cx="5120640" cy="365760"/>
          </a:xfrm>
          <a:prstGeom prst="rect">
            <a:avLst/>
          </a:prstGeom>
          <a:noFill/>
          <a:ln/>
        </p:spPr>
        <p:txBody>
          <a:bodyPr wrap="square" lIns="0" tIns="0" rIns="0" bIns="0" rtlCol="0" anchor="ctr"/>
          <a:lstStyle/>
          <a:p>
            <a:pPr marL="0" indent="0">
              <a:buNone/>
            </a:pPr>
            <a:r>
              <a:rPr lang="en-US" sz="1050" dirty="0">
                <a:solidFill>
                  <a:srgbClr val="1E2D3D"/>
                </a:solidFill>
                <a:latin typeface="Times New Roman" panose="02020603050405020304" pitchFamily="18" charset="0"/>
                <a:ea typeface="Calibri" pitchFamily="34" charset="-122"/>
                <a:cs typeface="Times New Roman" panose="02020603050405020304" pitchFamily="18" charset="0"/>
              </a:rPr>
              <a:t>Mediates inflammatory response; tissue regeneration</a:t>
            </a:r>
            <a:endParaRPr lang="en-US" sz="1050" dirty="0">
              <a:latin typeface="Times New Roman" panose="02020603050405020304" pitchFamily="18" charset="0"/>
              <a:cs typeface="Times New Roman" panose="02020603050405020304" pitchFamily="18" charset="0"/>
            </a:endParaRPr>
          </a:p>
        </p:txBody>
      </p:sp>
      <p:sp>
        <p:nvSpPr>
          <p:cNvPr id="30" name="Text 28"/>
          <p:cNvSpPr/>
          <p:nvPr/>
        </p:nvSpPr>
        <p:spPr>
          <a:xfrm>
            <a:off x="411480" y="4553712"/>
            <a:ext cx="1280160" cy="365760"/>
          </a:xfrm>
          <a:prstGeom prst="rect">
            <a:avLst/>
          </a:prstGeom>
          <a:noFill/>
          <a:ln/>
        </p:spPr>
        <p:txBody>
          <a:bodyPr wrap="square" lIns="0" tIns="0" rIns="0" bIns="0" rtlCol="0" anchor="ctr"/>
          <a:lstStyle/>
          <a:p>
            <a:pPr marL="0" indent="0">
              <a:buNone/>
            </a:pPr>
            <a:r>
              <a:rPr lang="en-US" sz="1050" dirty="0">
                <a:solidFill>
                  <a:srgbClr val="1E2D3D"/>
                </a:solidFill>
                <a:latin typeface="Times New Roman" panose="02020603050405020304" pitchFamily="18" charset="0"/>
                <a:ea typeface="Calibri" pitchFamily="34" charset="-122"/>
                <a:cs typeface="Times New Roman" panose="02020603050405020304" pitchFamily="18" charset="0"/>
              </a:rPr>
              <a:t>PLA2G2D</a:t>
            </a:r>
            <a:endParaRPr lang="en-US" sz="1050" dirty="0">
              <a:latin typeface="Times New Roman" panose="02020603050405020304" pitchFamily="18" charset="0"/>
              <a:cs typeface="Times New Roman" panose="02020603050405020304" pitchFamily="18" charset="0"/>
            </a:endParaRPr>
          </a:p>
        </p:txBody>
      </p:sp>
      <p:sp>
        <p:nvSpPr>
          <p:cNvPr id="31" name="Text 29"/>
          <p:cNvSpPr/>
          <p:nvPr/>
        </p:nvSpPr>
        <p:spPr>
          <a:xfrm>
            <a:off x="1783080" y="4553712"/>
            <a:ext cx="1554480" cy="365760"/>
          </a:xfrm>
          <a:prstGeom prst="rect">
            <a:avLst/>
          </a:prstGeom>
          <a:noFill/>
          <a:ln/>
        </p:spPr>
        <p:txBody>
          <a:bodyPr wrap="square" lIns="0" tIns="0" rIns="0" bIns="0" rtlCol="0" anchor="ctr"/>
          <a:lstStyle/>
          <a:p>
            <a:pPr marL="0" indent="0">
              <a:buNone/>
            </a:pPr>
            <a:r>
              <a:rPr lang="en-US" sz="1050" dirty="0">
                <a:solidFill>
                  <a:srgbClr val="1E2D3D"/>
                </a:solidFill>
                <a:latin typeface="Times New Roman" panose="02020603050405020304" pitchFamily="18" charset="0"/>
                <a:ea typeface="Calibri" pitchFamily="34" charset="-122"/>
                <a:cs typeface="Times New Roman" panose="02020603050405020304" pitchFamily="18" charset="0"/>
              </a:rPr>
              <a:t>↑ Upregulated</a:t>
            </a:r>
            <a:endParaRPr lang="en-US" sz="1050" dirty="0">
              <a:latin typeface="Times New Roman" panose="02020603050405020304" pitchFamily="18" charset="0"/>
              <a:cs typeface="Times New Roman" panose="02020603050405020304" pitchFamily="18" charset="0"/>
            </a:endParaRPr>
          </a:p>
        </p:txBody>
      </p:sp>
      <p:sp>
        <p:nvSpPr>
          <p:cNvPr id="32" name="Text 30"/>
          <p:cNvSpPr/>
          <p:nvPr/>
        </p:nvSpPr>
        <p:spPr>
          <a:xfrm>
            <a:off x="3429000" y="4553712"/>
            <a:ext cx="5120640" cy="365760"/>
          </a:xfrm>
          <a:prstGeom prst="rect">
            <a:avLst/>
          </a:prstGeom>
          <a:noFill/>
          <a:ln/>
        </p:spPr>
        <p:txBody>
          <a:bodyPr wrap="square" lIns="0" tIns="0" rIns="0" bIns="0" rtlCol="0" anchor="ctr"/>
          <a:lstStyle/>
          <a:p>
            <a:pPr marL="0" indent="0">
              <a:buNone/>
            </a:pPr>
            <a:r>
              <a:rPr lang="en-US" sz="1050" dirty="0">
                <a:solidFill>
                  <a:srgbClr val="1E2D3D"/>
                </a:solidFill>
                <a:latin typeface="Times New Roman" panose="02020603050405020304" pitchFamily="18" charset="0"/>
                <a:ea typeface="Calibri" pitchFamily="34" charset="-122"/>
                <a:cs typeface="Times New Roman" panose="02020603050405020304" pitchFamily="18" charset="0"/>
              </a:rPr>
              <a:t>Cell metabolism; immune cell infiltration regulator</a:t>
            </a:r>
            <a:endParaRPr lang="en-US" sz="10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4F8F9"/>
        </a:solidFill>
        <a:effectLst/>
      </p:bgPr>
    </p:bg>
    <p:spTree>
      <p:nvGrpSpPr>
        <p:cNvPr id="1" name=""/>
        <p:cNvGrpSpPr/>
        <p:nvPr/>
      </p:nvGrpSpPr>
      <p:grpSpPr>
        <a:xfrm>
          <a:off x="0" y="0"/>
          <a:ext cx="0" cy="0"/>
          <a:chOff x="0" y="0"/>
          <a:chExt cx="0" cy="0"/>
        </a:xfrm>
      </p:grpSpPr>
      <p:sp>
        <p:nvSpPr>
          <p:cNvPr id="2" name="Text 0"/>
          <p:cNvSpPr/>
          <p:nvPr/>
        </p:nvSpPr>
        <p:spPr>
          <a:xfrm>
            <a:off x="365760" y="182880"/>
            <a:ext cx="9935042" cy="502920"/>
          </a:xfrm>
          <a:prstGeom prst="rect">
            <a:avLst/>
          </a:prstGeom>
          <a:noFill/>
          <a:ln/>
        </p:spPr>
        <p:txBody>
          <a:bodyPr wrap="square" lIns="0" tIns="0" rIns="0" bIns="0" rtlCol="0" anchor="ctr"/>
          <a:lstStyle/>
          <a:p>
            <a:pPr marL="0" indent="0">
              <a:buNone/>
            </a:pPr>
            <a:r>
              <a:rPr lang="en-US" sz="3600" b="1" dirty="0">
                <a:solidFill>
                  <a:srgbClr val="0D2B45"/>
                </a:solidFill>
                <a:latin typeface="Times New Roman" panose="02020603050405020304" pitchFamily="18" charset="0"/>
                <a:ea typeface="Calibri" pitchFamily="34" charset="-122"/>
                <a:cs typeface="Times New Roman" panose="02020603050405020304" pitchFamily="18" charset="0"/>
              </a:rPr>
              <a:t>Functional Enrichment — KEGG Pathways</a:t>
            </a:r>
            <a:endParaRPr lang="en-US" sz="3600" dirty="0">
              <a:latin typeface="Times New Roman" panose="02020603050405020304" pitchFamily="18" charset="0"/>
              <a:cs typeface="Times New Roman" panose="02020603050405020304" pitchFamily="18" charset="0"/>
            </a:endParaRPr>
          </a:p>
        </p:txBody>
      </p:sp>
      <p:sp>
        <p:nvSpPr>
          <p:cNvPr id="3" name="Shape 1"/>
          <p:cNvSpPr/>
          <p:nvPr/>
        </p:nvSpPr>
        <p:spPr>
          <a:xfrm>
            <a:off x="365760" y="932688"/>
            <a:ext cx="8412480" cy="27432"/>
          </a:xfrm>
          <a:prstGeom prst="rect">
            <a:avLst/>
          </a:prstGeom>
          <a:solidFill>
            <a:srgbClr val="0F7173"/>
          </a:solidFill>
          <a:ln w="12700">
            <a:solidFill>
              <a:srgbClr val="0F7173"/>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365760" y="1051560"/>
            <a:ext cx="5394960" cy="3749040"/>
          </a:xfrm>
          <a:prstGeom prst="rect">
            <a:avLst/>
          </a:prstGeom>
        </p:spPr>
      </p:pic>
      <p:sp>
        <p:nvSpPr>
          <p:cNvPr id="5" name="Shape 2"/>
          <p:cNvSpPr/>
          <p:nvPr/>
        </p:nvSpPr>
        <p:spPr>
          <a:xfrm>
            <a:off x="6035039" y="1051560"/>
            <a:ext cx="3039949" cy="3909060"/>
          </a:xfrm>
          <a:prstGeom prst="rect">
            <a:avLst/>
          </a:prstGeom>
          <a:solidFill>
            <a:srgbClr val="FFFFFF"/>
          </a:solidFill>
          <a:ln w="12700">
            <a:solidFill>
              <a:srgbClr val="E2E8F0"/>
            </a:solidFill>
            <a:prstDash val="solid"/>
          </a:ln>
        </p:spPr>
        <p:txBody>
          <a:bodyPr/>
          <a:lstStyle/>
          <a:p>
            <a:endParaRPr lang="en-US"/>
          </a:p>
        </p:txBody>
      </p:sp>
      <p:sp>
        <p:nvSpPr>
          <p:cNvPr id="6" name="Text 3"/>
          <p:cNvSpPr/>
          <p:nvPr/>
        </p:nvSpPr>
        <p:spPr>
          <a:xfrm>
            <a:off x="6104913" y="1097280"/>
            <a:ext cx="2697480" cy="347472"/>
          </a:xfrm>
          <a:prstGeom prst="rect">
            <a:avLst/>
          </a:prstGeom>
          <a:noFill/>
          <a:ln/>
        </p:spPr>
        <p:txBody>
          <a:bodyPr wrap="square" lIns="0" tIns="0" rIns="0" bIns="0" rtlCol="0" anchor="ctr"/>
          <a:lstStyle/>
          <a:p>
            <a:pPr marL="0" indent="0">
              <a:buNone/>
            </a:pPr>
            <a:r>
              <a:rPr lang="en-US" sz="2000" b="1" dirty="0">
                <a:solidFill>
                  <a:srgbClr val="0D2B45"/>
                </a:solidFill>
                <a:latin typeface="Times New Roman" panose="02020603050405020304" pitchFamily="18" charset="0"/>
                <a:ea typeface="Calibri" pitchFamily="34" charset="-122"/>
                <a:cs typeface="Times New Roman" panose="02020603050405020304" pitchFamily="18" charset="0"/>
              </a:rPr>
              <a:t>Top Enriched Pathways</a:t>
            </a:r>
            <a:endParaRPr lang="en-US" sz="2000" dirty="0">
              <a:latin typeface="Times New Roman" panose="02020603050405020304" pitchFamily="18" charset="0"/>
              <a:cs typeface="Times New Roman" panose="02020603050405020304" pitchFamily="18" charset="0"/>
            </a:endParaRPr>
          </a:p>
        </p:txBody>
      </p:sp>
      <p:sp>
        <p:nvSpPr>
          <p:cNvPr id="7" name="Text 4"/>
          <p:cNvSpPr/>
          <p:nvPr/>
        </p:nvSpPr>
        <p:spPr>
          <a:xfrm>
            <a:off x="6035039" y="1645920"/>
            <a:ext cx="3177971" cy="2560320"/>
          </a:xfrm>
          <a:prstGeom prst="rect">
            <a:avLst/>
          </a:prstGeom>
          <a:noFill/>
          <a:ln/>
        </p:spPr>
        <p:txBody>
          <a:bodyPr wrap="square" rtlCol="0" anchor="ctr"/>
          <a:lstStyle/>
          <a:p>
            <a:pPr marL="342900" indent="-342900">
              <a:buSzPct val="100000"/>
              <a:buChar char="•"/>
            </a:pPr>
            <a:r>
              <a:rPr lang="en-US" dirty="0">
                <a:solidFill>
                  <a:srgbClr val="1E2D3D"/>
                </a:solidFill>
                <a:latin typeface="Times New Roman" panose="02020603050405020304" pitchFamily="18" charset="0"/>
                <a:ea typeface="Calibri" pitchFamily="34" charset="-122"/>
                <a:cs typeface="Times New Roman" panose="02020603050405020304" pitchFamily="18" charset="0"/>
              </a:rPr>
              <a:t>Cytokine-cytokine receptor interaction.</a:t>
            </a:r>
            <a:endParaRPr lang="en-US" dirty="0">
              <a:latin typeface="Times New Roman" panose="02020603050405020304" pitchFamily="18" charset="0"/>
              <a:cs typeface="Times New Roman" panose="02020603050405020304" pitchFamily="18" charset="0"/>
            </a:endParaRPr>
          </a:p>
          <a:p>
            <a:pPr marL="342900" indent="-342900">
              <a:buSzPct val="100000"/>
              <a:buChar char="•"/>
            </a:pPr>
            <a:r>
              <a:rPr lang="en-US" dirty="0">
                <a:solidFill>
                  <a:srgbClr val="1E2D3D"/>
                </a:solidFill>
                <a:latin typeface="Times New Roman" panose="02020603050405020304" pitchFamily="18" charset="0"/>
                <a:ea typeface="Calibri" pitchFamily="34" charset="-122"/>
                <a:cs typeface="Times New Roman" panose="02020603050405020304" pitchFamily="18" charset="0"/>
              </a:rPr>
              <a:t>Toll-like receptor signaling.</a:t>
            </a:r>
            <a:endParaRPr lang="en-US" dirty="0">
              <a:latin typeface="Times New Roman" panose="02020603050405020304" pitchFamily="18" charset="0"/>
              <a:cs typeface="Times New Roman" panose="02020603050405020304" pitchFamily="18" charset="0"/>
            </a:endParaRPr>
          </a:p>
          <a:p>
            <a:pPr marL="342900" indent="-342900">
              <a:buSzPct val="100000"/>
              <a:buChar char="•"/>
            </a:pPr>
            <a:r>
              <a:rPr lang="en-US" dirty="0">
                <a:solidFill>
                  <a:srgbClr val="1E2D3D"/>
                </a:solidFill>
                <a:latin typeface="Times New Roman" panose="02020603050405020304" pitchFamily="18" charset="0"/>
                <a:ea typeface="Calibri" pitchFamily="34" charset="-122"/>
                <a:cs typeface="Times New Roman" panose="02020603050405020304" pitchFamily="18" charset="0"/>
              </a:rPr>
              <a:t>Chemokine signaling pathway.</a:t>
            </a:r>
            <a:endParaRPr lang="en-US" dirty="0">
              <a:latin typeface="Times New Roman" panose="02020603050405020304" pitchFamily="18" charset="0"/>
              <a:cs typeface="Times New Roman" panose="02020603050405020304" pitchFamily="18" charset="0"/>
            </a:endParaRPr>
          </a:p>
          <a:p>
            <a:pPr marL="342900" indent="-342900">
              <a:buSzPct val="100000"/>
              <a:buChar char="•"/>
            </a:pPr>
            <a:r>
              <a:rPr lang="en-US" dirty="0">
                <a:solidFill>
                  <a:srgbClr val="1E2D3D"/>
                </a:solidFill>
                <a:latin typeface="Times New Roman" panose="02020603050405020304" pitchFamily="18" charset="0"/>
                <a:ea typeface="Calibri" pitchFamily="34" charset="-122"/>
                <a:cs typeface="Times New Roman" panose="02020603050405020304" pitchFamily="18" charset="0"/>
              </a:rPr>
              <a:t>Hematopoietic cell lineage.</a:t>
            </a:r>
            <a:endParaRPr lang="en-US" dirty="0">
              <a:latin typeface="Times New Roman" panose="02020603050405020304" pitchFamily="18" charset="0"/>
              <a:cs typeface="Times New Roman" panose="02020603050405020304" pitchFamily="18" charset="0"/>
            </a:endParaRPr>
          </a:p>
          <a:p>
            <a:pPr marL="342900" indent="-342900">
              <a:buSzPct val="100000"/>
              <a:buChar char="•"/>
            </a:pPr>
            <a:r>
              <a:rPr lang="en-US" dirty="0">
                <a:solidFill>
                  <a:srgbClr val="1E2D3D"/>
                </a:solidFill>
                <a:latin typeface="Times New Roman" panose="02020603050405020304" pitchFamily="18" charset="0"/>
                <a:ea typeface="Calibri" pitchFamily="34" charset="-122"/>
                <a:cs typeface="Times New Roman" panose="02020603050405020304" pitchFamily="18" charset="0"/>
              </a:rPr>
              <a:t>Primary immunodeficiency.</a:t>
            </a:r>
            <a:endParaRPr lang="en-US" dirty="0">
              <a:latin typeface="Times New Roman" panose="02020603050405020304" pitchFamily="18" charset="0"/>
              <a:cs typeface="Times New Roman" panose="02020603050405020304" pitchFamily="18" charset="0"/>
            </a:endParaRPr>
          </a:p>
          <a:p>
            <a:pPr marL="342900" indent="-342900">
              <a:buSzPct val="100000"/>
              <a:buChar char="•"/>
            </a:pPr>
            <a:r>
              <a:rPr lang="en-US" dirty="0">
                <a:solidFill>
                  <a:srgbClr val="1E2D3D"/>
                </a:solidFill>
                <a:latin typeface="Times New Roman" panose="02020603050405020304" pitchFamily="18" charset="0"/>
                <a:ea typeface="Calibri" pitchFamily="34" charset="-122"/>
                <a:cs typeface="Times New Roman" panose="02020603050405020304" pitchFamily="18" charset="0"/>
              </a:rPr>
              <a:t>Cytosolic DNA-sensing.</a:t>
            </a:r>
            <a:endParaRPr lang="en-US" dirty="0">
              <a:latin typeface="Times New Roman" panose="02020603050405020304" pitchFamily="18" charset="0"/>
              <a:cs typeface="Times New Roman" panose="02020603050405020304" pitchFamily="18" charset="0"/>
            </a:endParaRPr>
          </a:p>
          <a:p>
            <a:pPr marL="342900" indent="-342900">
              <a:buSzPct val="100000"/>
              <a:buChar char="•"/>
            </a:pPr>
            <a:r>
              <a:rPr lang="en-US" dirty="0">
                <a:solidFill>
                  <a:srgbClr val="1E2D3D"/>
                </a:solidFill>
                <a:latin typeface="Times New Roman" panose="02020603050405020304" pitchFamily="18" charset="0"/>
                <a:ea typeface="Calibri" pitchFamily="34" charset="-122"/>
                <a:cs typeface="Times New Roman" panose="02020603050405020304" pitchFamily="18" charset="0"/>
              </a:rPr>
              <a:t>Cell adhesion molecules.</a:t>
            </a:r>
            <a:endParaRPr lang="en-US" dirty="0">
              <a:latin typeface="Times New Roman" panose="02020603050405020304" pitchFamily="18" charset="0"/>
              <a:cs typeface="Times New Roman" panose="02020603050405020304" pitchFamily="18" charset="0"/>
            </a:endParaRPr>
          </a:p>
          <a:p>
            <a:pPr marL="342900" indent="-342900">
              <a:buSzPct val="100000"/>
              <a:buChar char="•"/>
            </a:pPr>
            <a:r>
              <a:rPr lang="en-US" dirty="0">
                <a:solidFill>
                  <a:srgbClr val="1E2D3D"/>
                </a:solidFill>
                <a:latin typeface="Times New Roman" panose="02020603050405020304" pitchFamily="18" charset="0"/>
                <a:ea typeface="Calibri" pitchFamily="34" charset="-122"/>
                <a:cs typeface="Times New Roman" panose="02020603050405020304" pitchFamily="18" charset="0"/>
              </a:rPr>
              <a:t>Apoptosis.</a:t>
            </a:r>
            <a:endParaRPr lang="en-US" dirty="0">
              <a:latin typeface="Times New Roman" panose="02020603050405020304" pitchFamily="18" charset="0"/>
              <a:cs typeface="Times New Roman" panose="02020603050405020304" pitchFamily="18" charset="0"/>
            </a:endParaRPr>
          </a:p>
        </p:txBody>
      </p:sp>
      <p:sp>
        <p:nvSpPr>
          <p:cNvPr id="8" name="Shape 5"/>
          <p:cNvSpPr/>
          <p:nvPr/>
        </p:nvSpPr>
        <p:spPr>
          <a:xfrm>
            <a:off x="6035039" y="4428370"/>
            <a:ext cx="3039949" cy="594360"/>
          </a:xfrm>
          <a:prstGeom prst="rect">
            <a:avLst/>
          </a:prstGeom>
          <a:solidFill>
            <a:srgbClr val="E8F4F4"/>
          </a:solidFill>
          <a:ln w="12700">
            <a:solidFill>
              <a:srgbClr val="E2E8F0"/>
            </a:solidFill>
            <a:prstDash val="solid"/>
          </a:ln>
        </p:spPr>
        <p:txBody>
          <a:bodyPr/>
          <a:lstStyle/>
          <a:p>
            <a:endParaRPr lang="en-US"/>
          </a:p>
        </p:txBody>
      </p:sp>
      <p:sp>
        <p:nvSpPr>
          <p:cNvPr id="9" name="Text 6"/>
          <p:cNvSpPr/>
          <p:nvPr/>
        </p:nvSpPr>
        <p:spPr>
          <a:xfrm>
            <a:off x="6080760" y="4451230"/>
            <a:ext cx="2788920" cy="548640"/>
          </a:xfrm>
          <a:prstGeom prst="rect">
            <a:avLst/>
          </a:prstGeom>
          <a:noFill/>
          <a:ln/>
        </p:spPr>
        <p:txBody>
          <a:bodyPr wrap="square" rtlCol="0" anchor="ctr"/>
          <a:lstStyle/>
          <a:p>
            <a:pPr marL="0" indent="0">
              <a:buNone/>
            </a:pPr>
            <a:r>
              <a:rPr lang="en-US" sz="1400" i="1" dirty="0">
                <a:solidFill>
                  <a:srgbClr val="0F7173"/>
                </a:solidFill>
                <a:latin typeface="Times New Roman" panose="02020603050405020304" pitchFamily="18" charset="0"/>
                <a:ea typeface="Calibri" pitchFamily="34" charset="-122"/>
                <a:cs typeface="Times New Roman" panose="02020603050405020304" pitchFamily="18" charset="0"/>
              </a:rPr>
              <a:t>Dot size = N. of genes</a:t>
            </a:r>
            <a:endParaRPr lang="en-US" sz="1400" dirty="0">
              <a:latin typeface="Times New Roman" panose="02020603050405020304" pitchFamily="18" charset="0"/>
              <a:cs typeface="Times New Roman" panose="02020603050405020304" pitchFamily="18" charset="0"/>
            </a:endParaRPr>
          </a:p>
          <a:p>
            <a:pPr marL="0" indent="0">
              <a:buNone/>
            </a:pPr>
            <a:r>
              <a:rPr lang="en-US" sz="1400" i="1" dirty="0">
                <a:solidFill>
                  <a:srgbClr val="0F7173"/>
                </a:solidFill>
                <a:latin typeface="Times New Roman" panose="02020603050405020304" pitchFamily="18" charset="0"/>
                <a:ea typeface="Calibri" pitchFamily="34" charset="-122"/>
                <a:cs typeface="Times New Roman" panose="02020603050405020304" pitchFamily="18" charset="0"/>
              </a:rPr>
              <a:t>Color = -log10(FDR)</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4F8F9"/>
        </a:solidFill>
        <a:effectLst/>
      </p:bgPr>
    </p:bg>
    <p:spTree>
      <p:nvGrpSpPr>
        <p:cNvPr id="1" name=""/>
        <p:cNvGrpSpPr/>
        <p:nvPr/>
      </p:nvGrpSpPr>
      <p:grpSpPr>
        <a:xfrm>
          <a:off x="0" y="0"/>
          <a:ext cx="0" cy="0"/>
          <a:chOff x="0" y="0"/>
          <a:chExt cx="0" cy="0"/>
        </a:xfrm>
      </p:grpSpPr>
      <p:sp>
        <p:nvSpPr>
          <p:cNvPr id="2" name="Text 0"/>
          <p:cNvSpPr/>
          <p:nvPr/>
        </p:nvSpPr>
        <p:spPr>
          <a:xfrm>
            <a:off x="502920" y="182880"/>
            <a:ext cx="8848114" cy="502920"/>
          </a:xfrm>
          <a:prstGeom prst="rect">
            <a:avLst/>
          </a:prstGeom>
          <a:noFill/>
          <a:ln/>
        </p:spPr>
        <p:txBody>
          <a:bodyPr wrap="square" lIns="0" tIns="0" rIns="0" bIns="0" rtlCol="0" anchor="ctr"/>
          <a:lstStyle/>
          <a:p>
            <a:pPr marL="0" indent="0">
              <a:buNone/>
            </a:pPr>
            <a:r>
              <a:rPr lang="en-US" sz="3600" b="1" dirty="0">
                <a:solidFill>
                  <a:srgbClr val="0D2B45"/>
                </a:solidFill>
                <a:latin typeface="Times New Roman" panose="02020603050405020304" pitchFamily="18" charset="0"/>
                <a:ea typeface="Calibri" pitchFamily="34" charset="-122"/>
                <a:cs typeface="Times New Roman" panose="02020603050405020304" pitchFamily="18" charset="0"/>
              </a:rPr>
              <a:t>Functional Enrichment — GSEA &amp; Enrichment Map</a:t>
            </a:r>
            <a:endParaRPr lang="en-US" sz="3600" dirty="0">
              <a:latin typeface="Times New Roman" panose="02020603050405020304" pitchFamily="18" charset="0"/>
              <a:cs typeface="Times New Roman" panose="02020603050405020304" pitchFamily="18" charset="0"/>
            </a:endParaRPr>
          </a:p>
        </p:txBody>
      </p:sp>
      <p:sp>
        <p:nvSpPr>
          <p:cNvPr id="3" name="Shape 1"/>
          <p:cNvSpPr/>
          <p:nvPr/>
        </p:nvSpPr>
        <p:spPr>
          <a:xfrm>
            <a:off x="365760" y="932688"/>
            <a:ext cx="8412480" cy="27432"/>
          </a:xfrm>
          <a:prstGeom prst="rect">
            <a:avLst/>
          </a:prstGeom>
          <a:solidFill>
            <a:srgbClr val="0F7173"/>
          </a:solidFill>
          <a:ln w="12700">
            <a:solidFill>
              <a:srgbClr val="0F7173"/>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365760" y="1051560"/>
            <a:ext cx="5212080" cy="3657600"/>
          </a:xfrm>
          <a:prstGeom prst="rect">
            <a:avLst/>
          </a:prstGeom>
        </p:spPr>
      </p:pic>
      <p:sp>
        <p:nvSpPr>
          <p:cNvPr id="5" name="Shape 2"/>
          <p:cNvSpPr/>
          <p:nvPr/>
        </p:nvSpPr>
        <p:spPr>
          <a:xfrm>
            <a:off x="5669280" y="1051559"/>
            <a:ext cx="3429000" cy="3994893"/>
          </a:xfrm>
          <a:prstGeom prst="rect">
            <a:avLst/>
          </a:prstGeom>
          <a:solidFill>
            <a:srgbClr val="FFFFFF"/>
          </a:solidFill>
          <a:ln w="12700">
            <a:solidFill>
              <a:srgbClr val="E2E8F0"/>
            </a:solidFill>
            <a:prstDash val="solid"/>
          </a:ln>
        </p:spPr>
        <p:txBody>
          <a:bodyPr/>
          <a:lstStyle/>
          <a:p>
            <a:endParaRPr lang="en-US"/>
          </a:p>
        </p:txBody>
      </p:sp>
      <p:sp>
        <p:nvSpPr>
          <p:cNvPr id="6" name="Text 3"/>
          <p:cNvSpPr/>
          <p:nvPr/>
        </p:nvSpPr>
        <p:spPr>
          <a:xfrm>
            <a:off x="5760720" y="1161288"/>
            <a:ext cx="3154680" cy="347472"/>
          </a:xfrm>
          <a:prstGeom prst="rect">
            <a:avLst/>
          </a:prstGeom>
          <a:noFill/>
          <a:ln/>
        </p:spPr>
        <p:txBody>
          <a:bodyPr wrap="square" lIns="0" tIns="0" rIns="0" bIns="0" rtlCol="0" anchor="ctr"/>
          <a:lstStyle/>
          <a:p>
            <a:pPr marL="0" indent="0">
              <a:buNone/>
            </a:pPr>
            <a:r>
              <a:rPr lang="en-US" sz="2000" b="1" dirty="0">
                <a:solidFill>
                  <a:srgbClr val="0D2B45"/>
                </a:solidFill>
                <a:latin typeface="Times New Roman" panose="02020603050405020304" pitchFamily="18" charset="0"/>
                <a:ea typeface="Calibri" pitchFamily="34" charset="-122"/>
                <a:cs typeface="Times New Roman" panose="02020603050405020304" pitchFamily="18" charset="0"/>
              </a:rPr>
              <a:t>Enrichment Map Summary</a:t>
            </a:r>
            <a:endParaRPr lang="en-US" sz="2000" dirty="0">
              <a:latin typeface="Times New Roman" panose="02020603050405020304" pitchFamily="18" charset="0"/>
              <a:cs typeface="Times New Roman" panose="02020603050405020304" pitchFamily="18" charset="0"/>
            </a:endParaRPr>
          </a:p>
        </p:txBody>
      </p:sp>
      <p:sp>
        <p:nvSpPr>
          <p:cNvPr id="7" name="Text 4"/>
          <p:cNvSpPr/>
          <p:nvPr/>
        </p:nvSpPr>
        <p:spPr>
          <a:xfrm>
            <a:off x="5623560" y="1768846"/>
            <a:ext cx="3520440" cy="3017520"/>
          </a:xfrm>
          <a:prstGeom prst="rect">
            <a:avLst/>
          </a:prstGeom>
          <a:noFill/>
          <a:ln/>
        </p:spPr>
        <p:txBody>
          <a:bodyPr wrap="square" rtlCol="0" anchor="ctr"/>
          <a:lstStyle/>
          <a:p>
            <a:pPr marL="342900" indent="-342900">
              <a:buSzPct val="100000"/>
              <a:buChar char="•"/>
            </a:pPr>
            <a:r>
              <a:rPr lang="en-US" sz="1600" dirty="0">
                <a:solidFill>
                  <a:srgbClr val="1E2D3D"/>
                </a:solidFill>
                <a:latin typeface="Times New Roman" panose="02020603050405020304" pitchFamily="18" charset="0"/>
                <a:ea typeface="Calibri" pitchFamily="34" charset="-122"/>
                <a:cs typeface="Times New Roman" panose="02020603050405020304" pitchFamily="18" charset="0"/>
              </a:rPr>
              <a:t>GSEA identified gene sets enriched in immune and inflammatory programs.</a:t>
            </a:r>
            <a:endParaRPr lang="en-US" sz="1600" dirty="0">
              <a:latin typeface="Times New Roman" panose="02020603050405020304" pitchFamily="18" charset="0"/>
              <a:cs typeface="Times New Roman" panose="02020603050405020304" pitchFamily="18" charset="0"/>
            </a:endParaRPr>
          </a:p>
          <a:p>
            <a:pPr marL="342900" indent="-342900">
              <a:buSzPct val="100000"/>
              <a:buChar char="•"/>
            </a:pPr>
            <a:r>
              <a:rPr lang="en-US" sz="1600" dirty="0">
                <a:solidFill>
                  <a:srgbClr val="1E2D3D"/>
                </a:solidFill>
                <a:latin typeface="Times New Roman" panose="02020603050405020304" pitchFamily="18" charset="0"/>
                <a:ea typeface="Calibri" pitchFamily="34" charset="-122"/>
                <a:cs typeface="Times New Roman" panose="02020603050405020304" pitchFamily="18" charset="0"/>
              </a:rPr>
              <a:t>Enrichment map shows strong clustering of cytokine &amp; TLR pathways.</a:t>
            </a:r>
            <a:endParaRPr lang="en-US" sz="1600" dirty="0">
              <a:latin typeface="Times New Roman" panose="02020603050405020304" pitchFamily="18" charset="0"/>
              <a:cs typeface="Times New Roman" panose="02020603050405020304" pitchFamily="18" charset="0"/>
            </a:endParaRPr>
          </a:p>
          <a:p>
            <a:pPr marL="342900" indent="-342900">
              <a:buSzPct val="100000"/>
              <a:buChar char="•"/>
            </a:pPr>
            <a:r>
              <a:rPr lang="en-US" sz="1600" dirty="0">
                <a:solidFill>
                  <a:srgbClr val="1E2D3D"/>
                </a:solidFill>
                <a:latin typeface="Times New Roman" panose="02020603050405020304" pitchFamily="18" charset="0"/>
                <a:ea typeface="Calibri" pitchFamily="34" charset="-122"/>
                <a:cs typeface="Times New Roman" panose="02020603050405020304" pitchFamily="18" charset="0"/>
              </a:rPr>
              <a:t>Nodes represent gene sets; edges indicate shared genes.</a:t>
            </a:r>
            <a:endParaRPr lang="en-US" sz="1600" dirty="0">
              <a:latin typeface="Times New Roman" panose="02020603050405020304" pitchFamily="18" charset="0"/>
              <a:cs typeface="Times New Roman" panose="02020603050405020304" pitchFamily="18" charset="0"/>
            </a:endParaRPr>
          </a:p>
          <a:p>
            <a:pPr marL="342900" indent="-342900">
              <a:buSzPct val="100000"/>
              <a:buChar char="•"/>
            </a:pPr>
            <a:r>
              <a:rPr lang="en-US" sz="1600" dirty="0">
                <a:solidFill>
                  <a:srgbClr val="1E2D3D"/>
                </a:solidFill>
                <a:latin typeface="Times New Roman" panose="02020603050405020304" pitchFamily="18" charset="0"/>
                <a:ea typeface="Calibri" pitchFamily="34" charset="-122"/>
                <a:cs typeface="Times New Roman" panose="02020603050405020304" pitchFamily="18" charset="0"/>
              </a:rPr>
              <a:t>Central cluster: cytokine-cytokine receptor + TLR + chemokine pathways.</a:t>
            </a:r>
            <a:endParaRPr lang="en-US" sz="1600" dirty="0">
              <a:latin typeface="Times New Roman" panose="02020603050405020304" pitchFamily="18" charset="0"/>
              <a:cs typeface="Times New Roman" panose="02020603050405020304" pitchFamily="18" charset="0"/>
            </a:endParaRPr>
          </a:p>
          <a:p>
            <a:pPr marL="342900" indent="-342900">
              <a:buSzPct val="100000"/>
              <a:buChar char="•"/>
            </a:pPr>
            <a:r>
              <a:rPr lang="en-US" sz="1600" dirty="0">
                <a:solidFill>
                  <a:srgbClr val="1E2D3D"/>
                </a:solidFill>
                <a:latin typeface="Times New Roman" panose="02020603050405020304" pitchFamily="18" charset="0"/>
                <a:ea typeface="Calibri" pitchFamily="34" charset="-122"/>
                <a:cs typeface="Times New Roman" panose="02020603050405020304" pitchFamily="18" charset="0"/>
              </a:rPr>
              <a:t>Confirms coordinated immune activation in spinal TB.</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4F8F9"/>
        </a:solidFill>
        <a:effectLst/>
      </p:bgPr>
    </p:bg>
    <p:spTree>
      <p:nvGrpSpPr>
        <p:cNvPr id="1" name=""/>
        <p:cNvGrpSpPr/>
        <p:nvPr/>
      </p:nvGrpSpPr>
      <p:grpSpPr>
        <a:xfrm>
          <a:off x="0" y="0"/>
          <a:ext cx="0" cy="0"/>
          <a:chOff x="0" y="0"/>
          <a:chExt cx="0" cy="0"/>
        </a:xfrm>
      </p:grpSpPr>
      <p:sp>
        <p:nvSpPr>
          <p:cNvPr id="2" name="Text 0"/>
          <p:cNvSpPr/>
          <p:nvPr/>
        </p:nvSpPr>
        <p:spPr>
          <a:xfrm>
            <a:off x="502920" y="182880"/>
            <a:ext cx="8412480" cy="502920"/>
          </a:xfrm>
          <a:prstGeom prst="rect">
            <a:avLst/>
          </a:prstGeom>
          <a:noFill/>
          <a:ln/>
        </p:spPr>
        <p:txBody>
          <a:bodyPr wrap="square" lIns="0" tIns="0" rIns="0" bIns="0" rtlCol="0" anchor="ctr"/>
          <a:lstStyle/>
          <a:p>
            <a:pPr marL="0" indent="0">
              <a:buNone/>
            </a:pPr>
            <a:r>
              <a:rPr lang="en-US" sz="4000" b="1" dirty="0">
                <a:solidFill>
                  <a:srgbClr val="0D2B45"/>
                </a:solidFill>
                <a:latin typeface="Times New Roman" panose="02020603050405020304" pitchFamily="18" charset="0"/>
                <a:ea typeface="Calibri" pitchFamily="34" charset="-122"/>
                <a:cs typeface="Times New Roman" panose="02020603050405020304" pitchFamily="18" charset="0"/>
              </a:rPr>
              <a:t>Biological Interpretation</a:t>
            </a:r>
            <a:endParaRPr lang="en-US" sz="4000" dirty="0">
              <a:latin typeface="Times New Roman" panose="02020603050405020304" pitchFamily="18" charset="0"/>
              <a:cs typeface="Times New Roman" panose="02020603050405020304" pitchFamily="18" charset="0"/>
            </a:endParaRPr>
          </a:p>
        </p:txBody>
      </p:sp>
      <p:sp>
        <p:nvSpPr>
          <p:cNvPr id="3" name="Shape 1"/>
          <p:cNvSpPr/>
          <p:nvPr/>
        </p:nvSpPr>
        <p:spPr>
          <a:xfrm>
            <a:off x="365760" y="932688"/>
            <a:ext cx="8412480" cy="27432"/>
          </a:xfrm>
          <a:prstGeom prst="rect">
            <a:avLst/>
          </a:prstGeom>
          <a:solidFill>
            <a:srgbClr val="0F7173"/>
          </a:solidFill>
          <a:ln w="12700">
            <a:solidFill>
              <a:srgbClr val="0F7173"/>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365760" y="1051560"/>
            <a:ext cx="5029200" cy="3566160"/>
          </a:xfrm>
          <a:prstGeom prst="rect">
            <a:avLst/>
          </a:prstGeom>
        </p:spPr>
      </p:pic>
      <p:sp>
        <p:nvSpPr>
          <p:cNvPr id="5" name="Shape 2"/>
          <p:cNvSpPr/>
          <p:nvPr/>
        </p:nvSpPr>
        <p:spPr>
          <a:xfrm>
            <a:off x="5577839" y="1097279"/>
            <a:ext cx="3497149" cy="3957799"/>
          </a:xfrm>
          <a:prstGeom prst="rect">
            <a:avLst/>
          </a:prstGeom>
          <a:solidFill>
            <a:srgbClr val="FFFFFF"/>
          </a:solidFill>
          <a:ln w="12700">
            <a:solidFill>
              <a:srgbClr val="E2E8F0"/>
            </a:solidFill>
            <a:prstDash val="solid"/>
          </a:ln>
        </p:spPr>
        <p:txBody>
          <a:bodyPr/>
          <a:lstStyle/>
          <a:p>
            <a:endParaRPr lang="en-US"/>
          </a:p>
        </p:txBody>
      </p:sp>
      <p:sp>
        <p:nvSpPr>
          <p:cNvPr id="6" name="Text 3"/>
          <p:cNvSpPr/>
          <p:nvPr/>
        </p:nvSpPr>
        <p:spPr>
          <a:xfrm>
            <a:off x="5738292" y="1240047"/>
            <a:ext cx="3405708" cy="457200"/>
          </a:xfrm>
          <a:prstGeom prst="rect">
            <a:avLst/>
          </a:prstGeom>
          <a:noFill/>
          <a:ln/>
        </p:spPr>
        <p:txBody>
          <a:bodyPr wrap="square" lIns="0" tIns="0" rIns="0" bIns="0" rtlCol="0" anchor="ctr"/>
          <a:lstStyle/>
          <a:p>
            <a:pPr marL="0" indent="0">
              <a:buNone/>
            </a:pPr>
            <a:r>
              <a:rPr lang="en-US" sz="2000" b="1" dirty="0">
                <a:solidFill>
                  <a:srgbClr val="0D2B45"/>
                </a:solidFill>
                <a:latin typeface="Times New Roman" panose="02020603050405020304" pitchFamily="18" charset="0"/>
                <a:ea typeface="Calibri" pitchFamily="34" charset="-122"/>
                <a:cs typeface="Times New Roman" panose="02020603050405020304" pitchFamily="18" charset="0"/>
              </a:rPr>
              <a:t>KEGG Pathview — Type I Diabetes / Immune Signaling</a:t>
            </a:r>
            <a:endParaRPr lang="en-US" sz="2000" dirty="0">
              <a:latin typeface="Times New Roman" panose="02020603050405020304" pitchFamily="18" charset="0"/>
              <a:cs typeface="Times New Roman" panose="02020603050405020304" pitchFamily="18" charset="0"/>
            </a:endParaRPr>
          </a:p>
        </p:txBody>
      </p:sp>
      <p:sp>
        <p:nvSpPr>
          <p:cNvPr id="7" name="Text 4"/>
          <p:cNvSpPr/>
          <p:nvPr/>
        </p:nvSpPr>
        <p:spPr>
          <a:xfrm>
            <a:off x="5669280" y="1994426"/>
            <a:ext cx="3337560" cy="2834640"/>
          </a:xfrm>
          <a:prstGeom prst="rect">
            <a:avLst/>
          </a:prstGeom>
          <a:noFill/>
          <a:ln/>
        </p:spPr>
        <p:txBody>
          <a:bodyPr wrap="square" rtlCol="0" anchor="ctr"/>
          <a:lstStyle/>
          <a:p>
            <a:pPr marL="342900" indent="-342900">
              <a:buSzPct val="100000"/>
              <a:buChar char="•"/>
            </a:pPr>
            <a:r>
              <a:rPr lang="en-US" sz="1600" dirty="0">
                <a:solidFill>
                  <a:srgbClr val="1E2D3D"/>
                </a:solidFill>
                <a:latin typeface="Times New Roman" panose="02020603050405020304" pitchFamily="18" charset="0"/>
                <a:ea typeface="Calibri" pitchFamily="34" charset="-122"/>
                <a:cs typeface="Times New Roman" panose="02020603050405020304" pitchFamily="18" charset="0"/>
              </a:rPr>
              <a:t>Highlighted (red) genes are DEGs from spinal TB analysis.</a:t>
            </a:r>
            <a:endParaRPr lang="en-US" sz="1600" dirty="0">
              <a:latin typeface="Times New Roman" panose="02020603050405020304" pitchFamily="18" charset="0"/>
              <a:cs typeface="Times New Roman" panose="02020603050405020304" pitchFamily="18" charset="0"/>
            </a:endParaRPr>
          </a:p>
          <a:p>
            <a:pPr marL="342900" indent="-342900">
              <a:buSzPct val="100000"/>
              <a:buChar char="•"/>
            </a:pPr>
            <a:r>
              <a:rPr lang="en-US" sz="1600" dirty="0">
                <a:solidFill>
                  <a:srgbClr val="1E2D3D"/>
                </a:solidFill>
                <a:latin typeface="Times New Roman" panose="02020603050405020304" pitchFamily="18" charset="0"/>
                <a:ea typeface="Calibri" pitchFamily="34" charset="-122"/>
                <a:cs typeface="Times New Roman" panose="02020603050405020304" pitchFamily="18" charset="0"/>
              </a:rPr>
              <a:t>M. tuberculosis triggers innate immunity via TLR &amp; cytokine cascades.</a:t>
            </a:r>
            <a:endParaRPr lang="en-US" sz="1600" dirty="0">
              <a:latin typeface="Times New Roman" panose="02020603050405020304" pitchFamily="18" charset="0"/>
              <a:cs typeface="Times New Roman" panose="02020603050405020304" pitchFamily="18" charset="0"/>
            </a:endParaRPr>
          </a:p>
          <a:p>
            <a:pPr marL="342900" indent="-342900">
              <a:buSzPct val="100000"/>
              <a:buChar char="•"/>
            </a:pPr>
            <a:r>
              <a:rPr lang="en-US" sz="1600" dirty="0">
                <a:solidFill>
                  <a:srgbClr val="1E2D3D"/>
                </a:solidFill>
                <a:latin typeface="Times New Roman" panose="02020603050405020304" pitchFamily="18" charset="0"/>
                <a:ea typeface="Calibri" pitchFamily="34" charset="-122"/>
                <a:cs typeface="Times New Roman" panose="02020603050405020304" pitchFamily="18" charset="0"/>
              </a:rPr>
              <a:t>TNF-α and IFN-γ pathways are key mediators of inflammation.</a:t>
            </a:r>
            <a:endParaRPr lang="en-US" sz="1600" dirty="0">
              <a:latin typeface="Times New Roman" panose="02020603050405020304" pitchFamily="18" charset="0"/>
              <a:cs typeface="Times New Roman" panose="02020603050405020304" pitchFamily="18" charset="0"/>
            </a:endParaRPr>
          </a:p>
          <a:p>
            <a:pPr marL="342900" indent="-342900">
              <a:buSzPct val="100000"/>
              <a:buChar char="•"/>
            </a:pPr>
            <a:r>
              <a:rPr lang="en-US" sz="1600" dirty="0">
                <a:solidFill>
                  <a:srgbClr val="1E2D3D"/>
                </a:solidFill>
                <a:latin typeface="Times New Roman" panose="02020603050405020304" pitchFamily="18" charset="0"/>
                <a:ea typeface="Calibri" pitchFamily="34" charset="-122"/>
                <a:cs typeface="Times New Roman" panose="02020603050405020304" pitchFamily="18" charset="0"/>
              </a:rPr>
              <a:t>Immune evasion by M. tb disrupts adaptive immune crosstalk.</a:t>
            </a:r>
            <a:endParaRPr lang="en-US" sz="1600" dirty="0">
              <a:latin typeface="Times New Roman" panose="02020603050405020304" pitchFamily="18" charset="0"/>
              <a:cs typeface="Times New Roman" panose="02020603050405020304" pitchFamily="18" charset="0"/>
            </a:endParaRPr>
          </a:p>
          <a:p>
            <a:pPr marL="342900" indent="-342900">
              <a:buSzPct val="100000"/>
              <a:buChar char="•"/>
            </a:pPr>
            <a:r>
              <a:rPr lang="en-US" sz="1600" dirty="0">
                <a:solidFill>
                  <a:srgbClr val="1E2D3D"/>
                </a:solidFill>
                <a:latin typeface="Times New Roman" panose="02020603050405020304" pitchFamily="18" charset="0"/>
                <a:ea typeface="Calibri" pitchFamily="34" charset="-122"/>
                <a:cs typeface="Times New Roman" panose="02020603050405020304" pitchFamily="18" charset="0"/>
              </a:rPr>
              <a:t>Upregulated CXCL9/10 indicate active T-cell recruitment.</a:t>
            </a:r>
            <a:endParaRPr lang="en-US" sz="1600" dirty="0">
              <a:latin typeface="Times New Roman" panose="02020603050405020304" pitchFamily="18" charset="0"/>
              <a:cs typeface="Times New Roman" panose="02020603050405020304" pitchFamily="18" charset="0"/>
            </a:endParaRPr>
          </a:p>
          <a:p>
            <a:pPr marL="342900" indent="-342900">
              <a:buSzPct val="100000"/>
              <a:buChar char="•"/>
            </a:pPr>
            <a:r>
              <a:rPr lang="en-US" sz="1600" dirty="0">
                <a:solidFill>
                  <a:srgbClr val="1E2D3D"/>
                </a:solidFill>
                <a:latin typeface="Times New Roman" panose="02020603050405020304" pitchFamily="18" charset="0"/>
                <a:ea typeface="Calibri" pitchFamily="34" charset="-122"/>
                <a:cs typeface="Times New Roman" panose="02020603050405020304" pitchFamily="18" charset="0"/>
              </a:rPr>
              <a:t>IL1B upregulation promotes tissue damage and inflammation.</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4F8F9"/>
        </a:solidFill>
        <a:effectLst/>
      </p:bgPr>
    </p:bg>
    <p:spTree>
      <p:nvGrpSpPr>
        <p:cNvPr id="1" name=""/>
        <p:cNvGrpSpPr/>
        <p:nvPr/>
      </p:nvGrpSpPr>
      <p:grpSpPr>
        <a:xfrm>
          <a:off x="0" y="0"/>
          <a:ext cx="0" cy="0"/>
          <a:chOff x="0" y="0"/>
          <a:chExt cx="0" cy="0"/>
        </a:xfrm>
      </p:grpSpPr>
      <p:sp>
        <p:nvSpPr>
          <p:cNvPr id="2" name="Text 0"/>
          <p:cNvSpPr/>
          <p:nvPr/>
        </p:nvSpPr>
        <p:spPr>
          <a:xfrm>
            <a:off x="502920" y="182880"/>
            <a:ext cx="8412480" cy="502920"/>
          </a:xfrm>
          <a:prstGeom prst="rect">
            <a:avLst/>
          </a:prstGeom>
          <a:noFill/>
          <a:ln/>
        </p:spPr>
        <p:txBody>
          <a:bodyPr wrap="square" lIns="0" tIns="0" rIns="0" bIns="0" rtlCol="0" anchor="ctr"/>
          <a:lstStyle/>
          <a:p>
            <a:pPr marL="0" indent="0">
              <a:buNone/>
            </a:pPr>
            <a:r>
              <a:rPr lang="en-US" sz="4000" b="1" dirty="0">
                <a:solidFill>
                  <a:srgbClr val="0D2B45"/>
                </a:solidFill>
                <a:latin typeface="Times New Roman" panose="02020603050405020304" pitchFamily="18" charset="0"/>
                <a:ea typeface="Calibri" pitchFamily="34" charset="-122"/>
                <a:cs typeface="Times New Roman" panose="02020603050405020304" pitchFamily="18" charset="0"/>
              </a:rPr>
              <a:t>Protein-Protein Interaction Network</a:t>
            </a:r>
            <a:endParaRPr lang="en-US" sz="4000" dirty="0">
              <a:latin typeface="Times New Roman" panose="02020603050405020304" pitchFamily="18" charset="0"/>
              <a:cs typeface="Times New Roman" panose="02020603050405020304" pitchFamily="18" charset="0"/>
            </a:endParaRPr>
          </a:p>
        </p:txBody>
      </p:sp>
      <p:sp>
        <p:nvSpPr>
          <p:cNvPr id="3" name="Shape 1"/>
          <p:cNvSpPr/>
          <p:nvPr/>
        </p:nvSpPr>
        <p:spPr>
          <a:xfrm>
            <a:off x="365760" y="932688"/>
            <a:ext cx="8412480" cy="27432"/>
          </a:xfrm>
          <a:prstGeom prst="rect">
            <a:avLst/>
          </a:prstGeom>
          <a:solidFill>
            <a:srgbClr val="0F7173"/>
          </a:solidFill>
          <a:ln w="12700">
            <a:solidFill>
              <a:srgbClr val="0F7173"/>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365760" y="1152144"/>
            <a:ext cx="5303520" cy="3566160"/>
          </a:xfrm>
          <a:prstGeom prst="rect">
            <a:avLst/>
          </a:prstGeom>
        </p:spPr>
      </p:pic>
      <p:sp>
        <p:nvSpPr>
          <p:cNvPr id="5" name="Shape 2"/>
          <p:cNvSpPr/>
          <p:nvPr/>
        </p:nvSpPr>
        <p:spPr>
          <a:xfrm>
            <a:off x="5735272" y="985202"/>
            <a:ext cx="3205576" cy="3994893"/>
          </a:xfrm>
          <a:prstGeom prst="rect">
            <a:avLst/>
          </a:prstGeom>
          <a:solidFill>
            <a:srgbClr val="FFFFFF"/>
          </a:solidFill>
          <a:ln w="12700">
            <a:solidFill>
              <a:srgbClr val="E2E8F0"/>
            </a:solidFill>
            <a:prstDash val="solid"/>
          </a:ln>
        </p:spPr>
        <p:txBody>
          <a:bodyPr/>
          <a:lstStyle/>
          <a:p>
            <a:endParaRPr lang="en-US"/>
          </a:p>
        </p:txBody>
      </p:sp>
      <p:sp>
        <p:nvSpPr>
          <p:cNvPr id="6" name="Text 3"/>
          <p:cNvSpPr/>
          <p:nvPr/>
        </p:nvSpPr>
        <p:spPr>
          <a:xfrm>
            <a:off x="5943600" y="1226183"/>
            <a:ext cx="2788920" cy="347472"/>
          </a:xfrm>
          <a:prstGeom prst="rect">
            <a:avLst/>
          </a:prstGeom>
          <a:noFill/>
          <a:ln/>
        </p:spPr>
        <p:txBody>
          <a:bodyPr wrap="square" lIns="0" tIns="0" rIns="0" bIns="0" rtlCol="0" anchor="ctr"/>
          <a:lstStyle/>
          <a:p>
            <a:pPr marL="0" indent="0">
              <a:buNone/>
            </a:pPr>
            <a:r>
              <a:rPr lang="en-US" sz="2000" b="1" dirty="0">
                <a:solidFill>
                  <a:srgbClr val="0D2B45"/>
                </a:solidFill>
                <a:latin typeface="Times New Roman" panose="02020603050405020304" pitchFamily="18" charset="0"/>
                <a:ea typeface="Calibri" pitchFamily="34" charset="-122"/>
                <a:cs typeface="Times New Roman" panose="02020603050405020304" pitchFamily="18" charset="0"/>
              </a:rPr>
              <a:t>Hub Proteins Identified</a:t>
            </a:r>
            <a:endParaRPr lang="en-US" sz="2000" dirty="0">
              <a:latin typeface="Times New Roman" panose="02020603050405020304" pitchFamily="18" charset="0"/>
              <a:cs typeface="Times New Roman" panose="02020603050405020304" pitchFamily="18" charset="0"/>
            </a:endParaRPr>
          </a:p>
        </p:txBody>
      </p:sp>
      <p:sp>
        <p:nvSpPr>
          <p:cNvPr id="7" name="Text 4"/>
          <p:cNvSpPr/>
          <p:nvPr/>
        </p:nvSpPr>
        <p:spPr>
          <a:xfrm>
            <a:off x="5943600" y="1660520"/>
            <a:ext cx="2788920" cy="256032"/>
          </a:xfrm>
          <a:prstGeom prst="rect">
            <a:avLst/>
          </a:prstGeom>
          <a:noFill/>
          <a:ln/>
        </p:spPr>
        <p:txBody>
          <a:bodyPr wrap="square" lIns="0" tIns="0" rIns="0" bIns="0" rtlCol="0" anchor="ctr"/>
          <a:lstStyle/>
          <a:p>
            <a:pPr marL="0" indent="0">
              <a:buNone/>
            </a:pPr>
            <a:r>
              <a:rPr lang="en-US" sz="1600" b="1" dirty="0">
                <a:solidFill>
                  <a:srgbClr val="0F7173"/>
                </a:solidFill>
                <a:latin typeface="Times New Roman" panose="02020603050405020304" pitchFamily="18" charset="0"/>
                <a:ea typeface="Calibri" pitchFamily="34" charset="-122"/>
                <a:cs typeface="Times New Roman" panose="02020603050405020304" pitchFamily="18" charset="0"/>
              </a:rPr>
              <a:t>TNFRSF Family</a:t>
            </a:r>
            <a:endParaRPr lang="en-US" sz="1600" dirty="0">
              <a:latin typeface="Times New Roman" panose="02020603050405020304" pitchFamily="18" charset="0"/>
              <a:cs typeface="Times New Roman" panose="02020603050405020304" pitchFamily="18" charset="0"/>
            </a:endParaRPr>
          </a:p>
        </p:txBody>
      </p:sp>
      <p:sp>
        <p:nvSpPr>
          <p:cNvPr id="8" name="Text 5"/>
          <p:cNvSpPr/>
          <p:nvPr/>
        </p:nvSpPr>
        <p:spPr>
          <a:xfrm>
            <a:off x="5943600" y="2155159"/>
            <a:ext cx="2788920" cy="320040"/>
          </a:xfrm>
          <a:prstGeom prst="rect">
            <a:avLst/>
          </a:prstGeom>
          <a:noFill/>
          <a:ln/>
        </p:spPr>
        <p:txBody>
          <a:bodyPr wrap="square" lIns="0" tIns="0" rIns="0" bIns="0" rtlCol="0" anchor="ctr"/>
          <a:lstStyle/>
          <a:p>
            <a:pPr marL="0" indent="0">
              <a:buNone/>
            </a:pPr>
            <a:r>
              <a:rPr lang="en-US" sz="1600" dirty="0">
                <a:solidFill>
                  <a:srgbClr val="1E2D3D"/>
                </a:solidFill>
                <a:latin typeface="Times New Roman" panose="02020603050405020304" pitchFamily="18" charset="0"/>
                <a:ea typeface="Calibri" pitchFamily="34" charset="-122"/>
                <a:cs typeface="Times New Roman" panose="02020603050405020304" pitchFamily="18" charset="0"/>
              </a:rPr>
              <a:t>Key TNF receptor superfamily members — central to immune signaling.</a:t>
            </a:r>
            <a:endParaRPr lang="en-US" sz="1600" dirty="0">
              <a:latin typeface="Times New Roman" panose="02020603050405020304" pitchFamily="18" charset="0"/>
              <a:cs typeface="Times New Roman" panose="02020603050405020304" pitchFamily="18" charset="0"/>
            </a:endParaRPr>
          </a:p>
        </p:txBody>
      </p:sp>
      <p:sp>
        <p:nvSpPr>
          <p:cNvPr id="9" name="Text 6"/>
          <p:cNvSpPr/>
          <p:nvPr/>
        </p:nvSpPr>
        <p:spPr>
          <a:xfrm>
            <a:off x="5943600" y="2817637"/>
            <a:ext cx="2788920" cy="256032"/>
          </a:xfrm>
          <a:prstGeom prst="rect">
            <a:avLst/>
          </a:prstGeom>
          <a:noFill/>
          <a:ln/>
        </p:spPr>
        <p:txBody>
          <a:bodyPr wrap="square" lIns="0" tIns="0" rIns="0" bIns="0" rtlCol="0" anchor="ctr"/>
          <a:lstStyle/>
          <a:p>
            <a:pPr marL="0" indent="0">
              <a:buNone/>
            </a:pPr>
            <a:r>
              <a:rPr lang="en-US" b="1" dirty="0">
                <a:solidFill>
                  <a:srgbClr val="0F7173"/>
                </a:solidFill>
                <a:latin typeface="Times New Roman" panose="02020603050405020304" pitchFamily="18" charset="0"/>
                <a:ea typeface="Calibri" pitchFamily="34" charset="-122"/>
                <a:cs typeface="Times New Roman" panose="02020603050405020304" pitchFamily="18" charset="0"/>
              </a:rPr>
              <a:t>C1QA / C1QB / C1QC</a:t>
            </a:r>
            <a:endParaRPr lang="en-US" dirty="0">
              <a:latin typeface="Times New Roman" panose="02020603050405020304" pitchFamily="18" charset="0"/>
              <a:cs typeface="Times New Roman" panose="02020603050405020304" pitchFamily="18" charset="0"/>
            </a:endParaRPr>
          </a:p>
        </p:txBody>
      </p:sp>
      <p:sp>
        <p:nvSpPr>
          <p:cNvPr id="10" name="Text 7"/>
          <p:cNvSpPr/>
          <p:nvPr/>
        </p:nvSpPr>
        <p:spPr>
          <a:xfrm>
            <a:off x="5943600" y="3195140"/>
            <a:ext cx="2788920" cy="320040"/>
          </a:xfrm>
          <a:prstGeom prst="rect">
            <a:avLst/>
          </a:prstGeom>
          <a:noFill/>
          <a:ln/>
        </p:spPr>
        <p:txBody>
          <a:bodyPr wrap="square" lIns="0" tIns="0" rIns="0" bIns="0" rtlCol="0" anchor="ctr"/>
          <a:lstStyle/>
          <a:p>
            <a:pPr marL="0" indent="0">
              <a:buNone/>
            </a:pPr>
            <a:r>
              <a:rPr lang="en-US" sz="1600" dirty="0">
                <a:solidFill>
                  <a:srgbClr val="1E2D3D"/>
                </a:solidFill>
                <a:latin typeface="Times New Roman" panose="02020603050405020304" pitchFamily="18" charset="0"/>
                <a:ea typeface="Calibri" pitchFamily="34" charset="-122"/>
                <a:cs typeface="Times New Roman" panose="02020603050405020304" pitchFamily="18" charset="0"/>
              </a:rPr>
              <a:t>Complement proteins — innate immune activation</a:t>
            </a:r>
            <a:endParaRPr lang="en-US" sz="1600" dirty="0">
              <a:latin typeface="Times New Roman" panose="02020603050405020304" pitchFamily="18" charset="0"/>
              <a:cs typeface="Times New Roman" panose="02020603050405020304" pitchFamily="18" charset="0"/>
            </a:endParaRPr>
          </a:p>
        </p:txBody>
      </p:sp>
      <p:sp>
        <p:nvSpPr>
          <p:cNvPr id="11" name="Text 8"/>
          <p:cNvSpPr/>
          <p:nvPr/>
        </p:nvSpPr>
        <p:spPr>
          <a:xfrm>
            <a:off x="5943600" y="3791482"/>
            <a:ext cx="2788920" cy="256032"/>
          </a:xfrm>
          <a:prstGeom prst="rect">
            <a:avLst/>
          </a:prstGeom>
          <a:noFill/>
          <a:ln/>
        </p:spPr>
        <p:txBody>
          <a:bodyPr wrap="square" lIns="0" tIns="0" rIns="0" bIns="0" rtlCol="0" anchor="ctr"/>
          <a:lstStyle/>
          <a:p>
            <a:pPr marL="0" indent="0">
              <a:buNone/>
            </a:pPr>
            <a:r>
              <a:rPr lang="en-US" sz="1600" b="1" dirty="0">
                <a:solidFill>
                  <a:srgbClr val="0F7173"/>
                </a:solidFill>
                <a:latin typeface="Times New Roman" panose="02020603050405020304" pitchFamily="18" charset="0"/>
                <a:ea typeface="Calibri" pitchFamily="34" charset="-122"/>
                <a:cs typeface="Times New Roman" panose="02020603050405020304" pitchFamily="18" charset="0"/>
              </a:rPr>
              <a:t>FCN3</a:t>
            </a:r>
            <a:endParaRPr lang="en-US" sz="1600" dirty="0">
              <a:latin typeface="Times New Roman" panose="02020603050405020304" pitchFamily="18" charset="0"/>
              <a:cs typeface="Times New Roman" panose="02020603050405020304" pitchFamily="18" charset="0"/>
            </a:endParaRPr>
          </a:p>
        </p:txBody>
      </p:sp>
      <p:sp>
        <p:nvSpPr>
          <p:cNvPr id="12" name="Text 9"/>
          <p:cNvSpPr/>
          <p:nvPr/>
        </p:nvSpPr>
        <p:spPr>
          <a:xfrm>
            <a:off x="5943600" y="4145726"/>
            <a:ext cx="2788920" cy="320040"/>
          </a:xfrm>
          <a:prstGeom prst="rect">
            <a:avLst/>
          </a:prstGeom>
          <a:noFill/>
          <a:ln/>
        </p:spPr>
        <p:txBody>
          <a:bodyPr wrap="square" lIns="0" tIns="0" rIns="0" bIns="0" rtlCol="0" anchor="ctr"/>
          <a:lstStyle/>
          <a:p>
            <a:pPr marL="0" indent="0">
              <a:buNone/>
            </a:pPr>
            <a:r>
              <a:rPr lang="en-US" sz="1600" dirty="0">
                <a:solidFill>
                  <a:srgbClr val="1E2D3D"/>
                </a:solidFill>
                <a:latin typeface="Times New Roman" panose="02020603050405020304" pitchFamily="18" charset="0"/>
                <a:ea typeface="Calibri" pitchFamily="34" charset="-122"/>
                <a:cs typeface="Times New Roman" panose="02020603050405020304" pitchFamily="18" charset="0"/>
              </a:rPr>
              <a:t>Ficolin-3 — pattern recognition and complement activation</a:t>
            </a:r>
            <a:endParaRPr lang="en-US" sz="1600" dirty="0">
              <a:latin typeface="Times New Roman" panose="02020603050405020304" pitchFamily="18" charset="0"/>
              <a:cs typeface="Times New Roman" panose="02020603050405020304" pitchFamily="18" charset="0"/>
            </a:endParaRPr>
          </a:p>
        </p:txBody>
      </p:sp>
      <p:sp>
        <p:nvSpPr>
          <p:cNvPr id="13" name="Text 10"/>
          <p:cNvSpPr/>
          <p:nvPr/>
        </p:nvSpPr>
        <p:spPr>
          <a:xfrm>
            <a:off x="5943600" y="3590314"/>
            <a:ext cx="2788920" cy="256032"/>
          </a:xfrm>
          <a:prstGeom prst="rect">
            <a:avLst/>
          </a:prstGeom>
          <a:noFill/>
          <a:ln/>
        </p:spPr>
        <p:txBody>
          <a:bodyPr wrap="square" lIns="0" tIns="0" rIns="0" bIns="0" rtlCol="0" anchor="ctr"/>
          <a:lstStyle/>
          <a:p>
            <a:pPr marL="0" indent="0">
              <a:buNone/>
            </a:pPr>
            <a:endParaRPr lang="en-US" sz="1600" dirty="0">
              <a:latin typeface="Times New Roman" panose="02020603050405020304" pitchFamily="18" charset="0"/>
              <a:cs typeface="Times New Roman" panose="02020603050405020304" pitchFamily="18" charset="0"/>
            </a:endParaRPr>
          </a:p>
        </p:txBody>
      </p:sp>
      <p:sp>
        <p:nvSpPr>
          <p:cNvPr id="14" name="Text 11"/>
          <p:cNvSpPr/>
          <p:nvPr/>
        </p:nvSpPr>
        <p:spPr>
          <a:xfrm>
            <a:off x="5943600" y="3955169"/>
            <a:ext cx="2788920" cy="320040"/>
          </a:xfrm>
          <a:prstGeom prst="rect">
            <a:avLst/>
          </a:prstGeom>
          <a:noFill/>
          <a:ln/>
        </p:spPr>
        <p:txBody>
          <a:bodyPr wrap="square" lIns="0" tIns="0" rIns="0" bIns="0" rtlCol="0" anchor="ctr"/>
          <a:lstStyle/>
          <a:p>
            <a:pPr marL="0" indent="0">
              <a:buNone/>
            </a:pPr>
            <a:endParaRPr lang="en-US" sz="1600" dirty="0">
              <a:latin typeface="Times New Roman" panose="02020603050405020304" pitchFamily="18" charset="0"/>
              <a:cs typeface="Times New Roman" panose="02020603050405020304" pitchFamily="18" charset="0"/>
            </a:endParaRPr>
          </a:p>
        </p:txBody>
      </p:sp>
      <p:sp>
        <p:nvSpPr>
          <p:cNvPr id="15" name="Text 12"/>
          <p:cNvSpPr/>
          <p:nvPr/>
        </p:nvSpPr>
        <p:spPr>
          <a:xfrm>
            <a:off x="5943600" y="4328606"/>
            <a:ext cx="2788920" cy="256032"/>
          </a:xfrm>
          <a:prstGeom prst="rect">
            <a:avLst/>
          </a:prstGeom>
          <a:noFill/>
          <a:ln/>
        </p:spPr>
        <p:txBody>
          <a:bodyPr wrap="square" lIns="0" tIns="0" rIns="0" bIns="0" rtlCol="0" anchor="ctr"/>
          <a:lstStyle/>
          <a:p>
            <a:pPr marL="0" indent="0">
              <a:buNone/>
            </a:pPr>
            <a:endParaRPr lang="en-US" sz="1600" dirty="0">
              <a:latin typeface="Times New Roman" panose="02020603050405020304" pitchFamily="18" charset="0"/>
              <a:cs typeface="Times New Roman" panose="02020603050405020304" pitchFamily="18" charset="0"/>
            </a:endParaRPr>
          </a:p>
        </p:txBody>
      </p:sp>
      <p:sp>
        <p:nvSpPr>
          <p:cNvPr id="16" name="Text 13"/>
          <p:cNvSpPr/>
          <p:nvPr/>
        </p:nvSpPr>
        <p:spPr>
          <a:xfrm>
            <a:off x="5503653" y="4666934"/>
            <a:ext cx="3071004" cy="292608"/>
          </a:xfrm>
          <a:prstGeom prst="rect">
            <a:avLst/>
          </a:prstGeom>
          <a:noFill/>
          <a:ln/>
        </p:spPr>
        <p:txBody>
          <a:bodyPr wrap="square" lIns="0" tIns="0" rIns="0" bIns="0" rtlCol="0" anchor="ctr"/>
          <a:lstStyle/>
          <a:p>
            <a:pPr lvl="1"/>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0D2B45"/>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F7173"/>
          </a:solidFill>
          <a:ln w="12700">
            <a:solidFill>
              <a:srgbClr val="0F7173"/>
            </a:solidFill>
            <a:prstDash val="solid"/>
          </a:ln>
        </p:spPr>
        <p:txBody>
          <a:bodyPr/>
          <a:lstStyle/>
          <a:p>
            <a:endParaRPr lang="en-US"/>
          </a:p>
        </p:txBody>
      </p:sp>
      <p:sp>
        <p:nvSpPr>
          <p:cNvPr id="3" name="Text 1"/>
          <p:cNvSpPr/>
          <p:nvPr/>
        </p:nvSpPr>
        <p:spPr>
          <a:xfrm>
            <a:off x="365760" y="164937"/>
            <a:ext cx="8412480" cy="548640"/>
          </a:xfrm>
          <a:prstGeom prst="rect">
            <a:avLst/>
          </a:prstGeom>
          <a:noFill/>
          <a:ln/>
        </p:spPr>
        <p:txBody>
          <a:bodyPr wrap="square" rtlCol="0" anchor="ctr"/>
          <a:lstStyle/>
          <a:p>
            <a:pPr marL="0" indent="0">
              <a:buNone/>
            </a:pPr>
            <a:r>
              <a:rPr lang="en-US" sz="3200" b="1" dirty="0">
                <a:solidFill>
                  <a:srgbClr val="FFFFFF"/>
                </a:solidFill>
                <a:latin typeface="Times New Roman" panose="02020603050405020304" pitchFamily="18" charset="0"/>
                <a:ea typeface="Calibri" pitchFamily="34" charset="-122"/>
                <a:cs typeface="Times New Roman" panose="02020603050405020304" pitchFamily="18" charset="0"/>
              </a:rPr>
              <a:t>Conclusion</a:t>
            </a:r>
            <a:endParaRPr lang="en-US" sz="3200" dirty="0">
              <a:latin typeface="Times New Roman" panose="02020603050405020304" pitchFamily="18" charset="0"/>
              <a:cs typeface="Times New Roman" panose="02020603050405020304" pitchFamily="18" charset="0"/>
            </a:endParaRPr>
          </a:p>
        </p:txBody>
      </p:sp>
      <p:sp>
        <p:nvSpPr>
          <p:cNvPr id="4" name="Shape 2"/>
          <p:cNvSpPr/>
          <p:nvPr/>
        </p:nvSpPr>
        <p:spPr>
          <a:xfrm>
            <a:off x="365760" y="804672"/>
            <a:ext cx="8412480" cy="36576"/>
          </a:xfrm>
          <a:prstGeom prst="rect">
            <a:avLst/>
          </a:prstGeom>
          <a:solidFill>
            <a:srgbClr val="0F7173"/>
          </a:solidFill>
          <a:ln w="12700">
            <a:solidFill>
              <a:srgbClr val="0F7173"/>
            </a:solidFill>
            <a:prstDash val="solid"/>
          </a:ln>
        </p:spPr>
        <p:txBody>
          <a:bodyPr/>
          <a:lstStyle/>
          <a:p>
            <a:endParaRPr lang="en-US"/>
          </a:p>
        </p:txBody>
      </p:sp>
      <p:sp>
        <p:nvSpPr>
          <p:cNvPr id="6" name="Text 4"/>
          <p:cNvSpPr/>
          <p:nvPr/>
        </p:nvSpPr>
        <p:spPr>
          <a:xfrm>
            <a:off x="365760" y="1069848"/>
            <a:ext cx="548640" cy="411480"/>
          </a:xfrm>
          <a:prstGeom prst="rect">
            <a:avLst/>
          </a:prstGeom>
          <a:noFill/>
          <a:ln/>
        </p:spPr>
        <p:txBody>
          <a:bodyPr wrap="square" lIns="0" tIns="0" rIns="0" bIns="0" rtlCol="0" anchor="ctr"/>
          <a:lstStyle/>
          <a:p>
            <a:pPr marL="0" indent="0" algn="ctr">
              <a:buNone/>
            </a:pPr>
            <a:endParaRPr lang="en-US" sz="1600" dirty="0"/>
          </a:p>
        </p:txBody>
      </p:sp>
      <p:sp>
        <p:nvSpPr>
          <p:cNvPr id="7" name="Text 5"/>
          <p:cNvSpPr/>
          <p:nvPr/>
        </p:nvSpPr>
        <p:spPr>
          <a:xfrm>
            <a:off x="1080674" y="3706130"/>
            <a:ext cx="7707573" cy="498155"/>
          </a:xfrm>
          <a:prstGeom prst="rect">
            <a:avLst/>
          </a:prstGeom>
          <a:noFill/>
          <a:ln/>
        </p:spPr>
        <p:txBody>
          <a:bodyPr wrap="square" rtlCol="0" anchor="ctr"/>
          <a:lstStyle/>
          <a:p>
            <a:pPr marL="0" indent="0">
              <a:buNone/>
            </a:pPr>
            <a:r>
              <a:rPr lang="en-US" dirty="0">
                <a:solidFill>
                  <a:srgbClr val="C8DDE8"/>
                </a:solidFill>
                <a:latin typeface="Times New Roman" panose="02020603050405020304" pitchFamily="18" charset="0"/>
                <a:ea typeface="Calibri" pitchFamily="34" charset="-122"/>
                <a:cs typeface="Times New Roman" panose="02020603050405020304" pitchFamily="18" charset="0"/>
              </a:rPr>
              <a:t>Healthy Control Group :  Replace lumbar disc degeneration controls with clinically healthy tissue to eliminate confounding gene expression changes.</a:t>
            </a:r>
          </a:p>
          <a:p>
            <a:pPr marL="0" indent="0">
              <a:buNone/>
            </a:pPr>
            <a:r>
              <a:rPr lang="en-US" dirty="0">
                <a:solidFill>
                  <a:srgbClr val="C8DDE8"/>
                </a:solidFill>
                <a:latin typeface="Times New Roman" panose="02020603050405020304" pitchFamily="18" charset="0"/>
                <a:ea typeface="Calibri" pitchFamily="34" charset="-122"/>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8" name="Shape 6"/>
          <p:cNvSpPr/>
          <p:nvPr/>
        </p:nvSpPr>
        <p:spPr>
          <a:xfrm>
            <a:off x="355753" y="1005840"/>
            <a:ext cx="548640" cy="640080"/>
          </a:xfrm>
          <a:prstGeom prst="rect">
            <a:avLst/>
          </a:prstGeom>
          <a:solidFill>
            <a:srgbClr val="0F7173"/>
          </a:solidFill>
          <a:ln w="12700">
            <a:solidFill>
              <a:srgbClr val="0F7173"/>
            </a:solidFill>
            <a:prstDash val="solid"/>
          </a:ln>
        </p:spPr>
        <p:txBody>
          <a:bodyPr/>
          <a:lstStyle/>
          <a:p>
            <a:endParaRPr lang="en-US"/>
          </a:p>
        </p:txBody>
      </p:sp>
      <p:sp>
        <p:nvSpPr>
          <p:cNvPr id="9" name="Text 7"/>
          <p:cNvSpPr/>
          <p:nvPr/>
        </p:nvSpPr>
        <p:spPr>
          <a:xfrm>
            <a:off x="365760" y="1097280"/>
            <a:ext cx="54864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0" name="Text 8"/>
          <p:cNvSpPr/>
          <p:nvPr/>
        </p:nvSpPr>
        <p:spPr>
          <a:xfrm>
            <a:off x="926641" y="1079337"/>
            <a:ext cx="7772400" cy="594360"/>
          </a:xfrm>
          <a:prstGeom prst="rect">
            <a:avLst/>
          </a:prstGeom>
          <a:noFill/>
          <a:ln/>
        </p:spPr>
        <p:txBody>
          <a:bodyPr wrap="square" rtlCol="0" anchor="ctr"/>
          <a:lstStyle/>
          <a:p>
            <a:pPr marL="0" indent="0">
              <a:buNone/>
            </a:pPr>
            <a:r>
              <a:rPr lang="en-US" dirty="0">
                <a:solidFill>
                  <a:srgbClr val="C8DDE8"/>
                </a:solidFill>
                <a:latin typeface="Times New Roman" panose="02020603050405020304" pitchFamily="18" charset="0"/>
                <a:ea typeface="Calibri" pitchFamily="34" charset="-122"/>
                <a:cs typeface="Times New Roman" panose="02020603050405020304" pitchFamily="18" charset="0"/>
              </a:rPr>
              <a:t>DEGs were predominantly associated with immune and inflammatory pathways — particularly cytokine-cytokine receptor interaction and TLR signaling.</a:t>
            </a:r>
            <a:endParaRPr lang="en-US" dirty="0">
              <a:latin typeface="Times New Roman" panose="02020603050405020304" pitchFamily="18" charset="0"/>
              <a:cs typeface="Times New Roman" panose="02020603050405020304" pitchFamily="18" charset="0"/>
            </a:endParaRPr>
          </a:p>
        </p:txBody>
      </p:sp>
      <p:sp>
        <p:nvSpPr>
          <p:cNvPr id="11" name="Shape 9"/>
          <p:cNvSpPr/>
          <p:nvPr/>
        </p:nvSpPr>
        <p:spPr>
          <a:xfrm>
            <a:off x="355753" y="1975104"/>
            <a:ext cx="548640" cy="640080"/>
          </a:xfrm>
          <a:prstGeom prst="rect">
            <a:avLst/>
          </a:prstGeom>
          <a:solidFill>
            <a:srgbClr val="0F7173"/>
          </a:solidFill>
          <a:ln w="12700">
            <a:solidFill>
              <a:srgbClr val="0F7173"/>
            </a:solidFill>
            <a:prstDash val="solid"/>
          </a:ln>
        </p:spPr>
        <p:txBody>
          <a:bodyPr/>
          <a:lstStyle/>
          <a:p>
            <a:endParaRPr lang="en-US"/>
          </a:p>
        </p:txBody>
      </p:sp>
      <p:sp>
        <p:nvSpPr>
          <p:cNvPr id="12" name="Text 10"/>
          <p:cNvSpPr/>
          <p:nvPr/>
        </p:nvSpPr>
        <p:spPr>
          <a:xfrm>
            <a:off x="365760" y="2112005"/>
            <a:ext cx="54864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cs typeface="Calibri" pitchFamily="34" charset="-120"/>
              </a:rPr>
              <a:t>2</a:t>
            </a:r>
            <a:endParaRPr lang="en-US" sz="1600" dirty="0"/>
          </a:p>
        </p:txBody>
      </p:sp>
      <p:sp>
        <p:nvSpPr>
          <p:cNvPr id="13" name="Text 11"/>
          <p:cNvSpPr/>
          <p:nvPr/>
        </p:nvSpPr>
        <p:spPr>
          <a:xfrm>
            <a:off x="1005840" y="2056656"/>
            <a:ext cx="7772400" cy="594360"/>
          </a:xfrm>
          <a:prstGeom prst="rect">
            <a:avLst/>
          </a:prstGeom>
          <a:noFill/>
          <a:ln/>
        </p:spPr>
        <p:txBody>
          <a:bodyPr wrap="square" rtlCol="0" anchor="ctr"/>
          <a:lstStyle/>
          <a:p>
            <a:pPr marL="0" indent="0">
              <a:buNone/>
            </a:pPr>
            <a:r>
              <a:rPr lang="en-US" dirty="0">
                <a:solidFill>
                  <a:srgbClr val="C8DDE8"/>
                </a:solidFill>
                <a:latin typeface="Times New Roman" panose="02020603050405020304" pitchFamily="18" charset="0"/>
                <a:ea typeface="Calibri" pitchFamily="34" charset="-122"/>
                <a:cs typeface="Times New Roman" panose="02020603050405020304" pitchFamily="18" charset="0"/>
              </a:rPr>
              <a:t>Hub proteins (TNFRSF family, C1QA/B/C, FCN3) identified via PPI analysis represent potential diagnostic biomarkers and therapeutic targets.</a:t>
            </a:r>
            <a:endParaRPr lang="en-US" dirty="0">
              <a:latin typeface="Times New Roman" panose="02020603050405020304" pitchFamily="18" charset="0"/>
              <a:cs typeface="Times New Roman" panose="02020603050405020304" pitchFamily="18" charset="0"/>
            </a:endParaRPr>
          </a:p>
        </p:txBody>
      </p:sp>
      <p:sp>
        <p:nvSpPr>
          <p:cNvPr id="14" name="Shape 12"/>
          <p:cNvSpPr/>
          <p:nvPr/>
        </p:nvSpPr>
        <p:spPr>
          <a:xfrm>
            <a:off x="394217" y="3495163"/>
            <a:ext cx="548640" cy="640080"/>
          </a:xfrm>
          <a:prstGeom prst="rect">
            <a:avLst/>
          </a:prstGeom>
          <a:solidFill>
            <a:srgbClr val="0F7173"/>
          </a:solidFill>
          <a:ln w="12700">
            <a:solidFill>
              <a:srgbClr val="0F7173"/>
            </a:solidFill>
            <a:prstDash val="solid"/>
          </a:ln>
        </p:spPr>
        <p:txBody>
          <a:bodyPr/>
          <a:lstStyle/>
          <a:p>
            <a:endParaRPr lang="en-US" dirty="0"/>
          </a:p>
        </p:txBody>
      </p:sp>
      <p:sp>
        <p:nvSpPr>
          <p:cNvPr id="15" name="Text 13"/>
          <p:cNvSpPr/>
          <p:nvPr/>
        </p:nvSpPr>
        <p:spPr>
          <a:xfrm>
            <a:off x="394217" y="3515488"/>
            <a:ext cx="54864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cs typeface="Calibri" pitchFamily="34" charset="-120"/>
              </a:rPr>
              <a:t>           1</a:t>
            </a:r>
            <a:endParaRPr lang="en-US" sz="1600" dirty="0"/>
          </a:p>
        </p:txBody>
      </p:sp>
      <p:sp>
        <p:nvSpPr>
          <p:cNvPr id="16" name="Text 14"/>
          <p:cNvSpPr/>
          <p:nvPr/>
        </p:nvSpPr>
        <p:spPr>
          <a:xfrm>
            <a:off x="1005840" y="4424353"/>
            <a:ext cx="7772400" cy="594360"/>
          </a:xfrm>
          <a:prstGeom prst="rect">
            <a:avLst/>
          </a:prstGeom>
          <a:noFill/>
          <a:ln/>
        </p:spPr>
        <p:txBody>
          <a:bodyPr wrap="square" rtlCol="0" anchor="ctr"/>
          <a:lstStyle/>
          <a:p>
            <a:pPr marL="0" indent="0">
              <a:buNone/>
            </a:pPr>
            <a:r>
              <a:rPr lang="en-US" dirty="0">
                <a:solidFill>
                  <a:srgbClr val="C8DDE8"/>
                </a:solidFill>
                <a:latin typeface="Times New Roman" panose="02020603050405020304" pitchFamily="18" charset="0"/>
                <a:ea typeface="Calibri" pitchFamily="34" charset="-122"/>
                <a:cs typeface="Times New Roman" panose="02020603050405020304" pitchFamily="18" charset="0"/>
              </a:rPr>
              <a:t>Animal Model Validation :Validate identified biomarkers (CXCL9, CXCL10, IL1B, TNFRSF) in in vivo tuberculosis bone infection models.</a:t>
            </a:r>
          </a:p>
          <a:p>
            <a:pPr marL="0" indent="0">
              <a:buNone/>
            </a:pPr>
            <a:endParaRPr lang="en-US" sz="1250" dirty="0"/>
          </a:p>
        </p:txBody>
      </p:sp>
      <p:pic>
        <p:nvPicPr>
          <p:cNvPr id="18" name="Picture 17">
            <a:extLst>
              <a:ext uri="{FF2B5EF4-FFF2-40B4-BE49-F238E27FC236}">
                <a16:creationId xmlns:a16="http://schemas.microsoft.com/office/drawing/2014/main" id="{5F51EDC7-5FE2-4B66-D59D-C00C8FE922E4}"/>
              </a:ext>
            </a:extLst>
          </p:cNvPr>
          <p:cNvPicPr>
            <a:picLocks noChangeAspect="1"/>
          </p:cNvPicPr>
          <p:nvPr/>
        </p:nvPicPr>
        <p:blipFill>
          <a:blip r:embed="rId3"/>
          <a:stretch>
            <a:fillRect/>
          </a:stretch>
        </p:blipFill>
        <p:spPr>
          <a:xfrm>
            <a:off x="399221" y="4303550"/>
            <a:ext cx="560881" cy="652329"/>
          </a:xfrm>
          <a:prstGeom prst="rect">
            <a:avLst/>
          </a:prstGeom>
        </p:spPr>
      </p:pic>
      <p:sp>
        <p:nvSpPr>
          <p:cNvPr id="21" name="TextBox 20">
            <a:extLst>
              <a:ext uri="{FF2B5EF4-FFF2-40B4-BE49-F238E27FC236}">
                <a16:creationId xmlns:a16="http://schemas.microsoft.com/office/drawing/2014/main" id="{29BB7316-99B0-8155-D914-DDBA1636287D}"/>
              </a:ext>
            </a:extLst>
          </p:cNvPr>
          <p:cNvSpPr txBox="1"/>
          <p:nvPr/>
        </p:nvSpPr>
        <p:spPr>
          <a:xfrm>
            <a:off x="534838" y="4424353"/>
            <a:ext cx="369555" cy="369332"/>
          </a:xfrm>
          <a:prstGeom prst="rect">
            <a:avLst/>
          </a:prstGeom>
          <a:noFill/>
        </p:spPr>
        <p:txBody>
          <a:bodyPr wrap="square" rtlCol="0">
            <a:spAutoFit/>
          </a:bodyPr>
          <a:lstStyle/>
          <a:p>
            <a:r>
              <a:rPr lang="en-US" dirty="0">
                <a:solidFill>
                  <a:schemeClr val="bg1"/>
                </a:solidFill>
              </a:rPr>
              <a:t>2</a:t>
            </a:r>
          </a:p>
        </p:txBody>
      </p:sp>
      <p:sp>
        <p:nvSpPr>
          <p:cNvPr id="17" name="مربع نص 16">
            <a:extLst>
              <a:ext uri="{FF2B5EF4-FFF2-40B4-BE49-F238E27FC236}">
                <a16:creationId xmlns:a16="http://schemas.microsoft.com/office/drawing/2014/main" id="{066944FE-6BA2-76D5-74C6-2D0C6DE3D434}"/>
              </a:ext>
            </a:extLst>
          </p:cNvPr>
          <p:cNvSpPr txBox="1"/>
          <p:nvPr/>
        </p:nvSpPr>
        <p:spPr>
          <a:xfrm>
            <a:off x="316354" y="2615184"/>
            <a:ext cx="4575686" cy="584775"/>
          </a:xfrm>
          <a:prstGeom prst="rect">
            <a:avLst/>
          </a:prstGeom>
          <a:noFill/>
        </p:spPr>
        <p:txBody>
          <a:bodyPr wrap="square">
            <a:spAutoFit/>
          </a:bodyPr>
          <a:lstStyle/>
          <a:p>
            <a:r>
              <a:rPr lang="en-US" sz="3200" b="1" dirty="0">
                <a:solidFill>
                  <a:schemeClr val="bg1"/>
                </a:solidFill>
                <a:latin typeface="Times New Roman" panose="02020603050405020304" pitchFamily="18" charset="0"/>
                <a:cs typeface="Times New Roman" panose="02020603050405020304" pitchFamily="18" charset="0"/>
              </a:rPr>
              <a:t>Future Work</a:t>
            </a:r>
            <a:endParaRPr lang="ar-SA" sz="3200" b="1" dirty="0">
              <a:solidFill>
                <a:schemeClr val="bg1"/>
              </a:solidFill>
              <a:latin typeface="Times New Roman" panose="02020603050405020304" pitchFamily="18" charset="0"/>
              <a:cs typeface="Times New Roman" panose="02020603050405020304" pitchFamily="18" charset="0"/>
            </a:endParaRPr>
          </a:p>
        </p:txBody>
      </p:sp>
      <p:pic>
        <p:nvPicPr>
          <p:cNvPr id="20" name="Picture 19">
            <a:extLst>
              <a:ext uri="{FF2B5EF4-FFF2-40B4-BE49-F238E27FC236}">
                <a16:creationId xmlns:a16="http://schemas.microsoft.com/office/drawing/2014/main" id="{E1BCC531-C3E5-2AFC-F744-D9CCD4152362}"/>
              </a:ext>
            </a:extLst>
          </p:cNvPr>
          <p:cNvPicPr>
            <a:picLocks noChangeAspect="1"/>
          </p:cNvPicPr>
          <p:nvPr/>
        </p:nvPicPr>
        <p:blipFill>
          <a:blip r:embed="rId3"/>
          <a:stretch>
            <a:fillRect/>
          </a:stretch>
        </p:blipFill>
        <p:spPr>
          <a:xfrm flipV="1">
            <a:off x="355753" y="3157186"/>
            <a:ext cx="8471893" cy="5235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D2B45"/>
        </a:solidFill>
        <a:effectLst/>
      </p:bgPr>
    </p:bg>
    <p:spTree>
      <p:nvGrpSpPr>
        <p:cNvPr id="1" name="">
          <a:extLst>
            <a:ext uri="{FF2B5EF4-FFF2-40B4-BE49-F238E27FC236}">
              <a16:creationId xmlns:a16="http://schemas.microsoft.com/office/drawing/2014/main" id="{0DF52086-4A63-55E5-B189-E51AFD401F7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B35B791-460C-8BC2-4A1A-F3814B931F71}"/>
              </a:ext>
            </a:extLst>
          </p:cNvPr>
          <p:cNvSpPr/>
          <p:nvPr/>
        </p:nvSpPr>
        <p:spPr>
          <a:xfrm>
            <a:off x="0" y="0"/>
            <a:ext cx="164592" cy="5143500"/>
          </a:xfrm>
          <a:prstGeom prst="rect">
            <a:avLst/>
          </a:prstGeom>
          <a:solidFill>
            <a:srgbClr val="0F7173"/>
          </a:solidFill>
          <a:ln w="12700">
            <a:solidFill>
              <a:srgbClr val="0F7173"/>
            </a:solidFill>
            <a:prstDash val="solid"/>
          </a:ln>
        </p:spPr>
        <p:txBody>
          <a:bodyPr/>
          <a:lstStyle/>
          <a:p>
            <a:endParaRPr lang="en-US"/>
          </a:p>
        </p:txBody>
      </p:sp>
      <p:sp>
        <p:nvSpPr>
          <p:cNvPr id="3" name="Text 1">
            <a:extLst>
              <a:ext uri="{FF2B5EF4-FFF2-40B4-BE49-F238E27FC236}">
                <a16:creationId xmlns:a16="http://schemas.microsoft.com/office/drawing/2014/main" id="{9209C164-C03F-59E6-FF99-F43A51970241}"/>
              </a:ext>
            </a:extLst>
          </p:cNvPr>
          <p:cNvSpPr/>
          <p:nvPr/>
        </p:nvSpPr>
        <p:spPr>
          <a:xfrm>
            <a:off x="451334" y="2167128"/>
            <a:ext cx="8412480" cy="548640"/>
          </a:xfrm>
          <a:prstGeom prst="rect">
            <a:avLst/>
          </a:prstGeom>
          <a:noFill/>
          <a:ln/>
        </p:spPr>
        <p:txBody>
          <a:bodyPr wrap="square" rtlCol="0" anchor="ctr"/>
          <a:lstStyle/>
          <a:p>
            <a:pPr marL="0" indent="0" algn="ctr">
              <a:buNone/>
            </a:pPr>
            <a:r>
              <a:rPr lang="en-US" sz="5400" b="1" dirty="0">
                <a:solidFill>
                  <a:srgbClr val="FFFFFF"/>
                </a:solidFill>
                <a:latin typeface="Times New Roman" panose="02020603050405020304" pitchFamily="18" charset="0"/>
                <a:cs typeface="Times New Roman" panose="02020603050405020304" pitchFamily="18" charset="0"/>
              </a:rPr>
              <a:t>Thank You For Your Time !</a:t>
            </a:r>
          </a:p>
          <a:p>
            <a:pPr marL="0" indent="0" algn="ctr">
              <a:buNone/>
            </a:pPr>
            <a:r>
              <a:rPr lang="en-US" sz="5400" b="1" dirty="0">
                <a:solidFill>
                  <a:srgbClr val="FFFFFF"/>
                </a:solidFill>
                <a:latin typeface="Times New Roman" panose="02020603050405020304" pitchFamily="18" charset="0"/>
                <a:cs typeface="Times New Roman" panose="02020603050405020304" pitchFamily="18" charset="0"/>
              </a:rPr>
              <a:t>Any Questions??</a:t>
            </a:r>
            <a:endParaRPr lang="en-US" sz="5400" dirty="0">
              <a:latin typeface="Times New Roman" panose="02020603050405020304" pitchFamily="18" charset="0"/>
              <a:cs typeface="Times New Roman" panose="02020603050405020304" pitchFamily="18" charset="0"/>
            </a:endParaRPr>
          </a:p>
        </p:txBody>
      </p:sp>
      <p:sp>
        <p:nvSpPr>
          <p:cNvPr id="6" name="Text 4">
            <a:extLst>
              <a:ext uri="{FF2B5EF4-FFF2-40B4-BE49-F238E27FC236}">
                <a16:creationId xmlns:a16="http://schemas.microsoft.com/office/drawing/2014/main" id="{F5FECD03-351A-B628-9D07-6A71039193BD}"/>
              </a:ext>
            </a:extLst>
          </p:cNvPr>
          <p:cNvSpPr/>
          <p:nvPr/>
        </p:nvSpPr>
        <p:spPr>
          <a:xfrm>
            <a:off x="365760" y="1069848"/>
            <a:ext cx="548640" cy="411480"/>
          </a:xfrm>
          <a:prstGeom prst="rect">
            <a:avLst/>
          </a:prstGeom>
          <a:noFill/>
          <a:ln/>
        </p:spPr>
        <p:txBody>
          <a:bodyPr wrap="square" lIns="0" tIns="0" rIns="0" bIns="0" rtlCol="0" anchor="ctr"/>
          <a:lstStyle/>
          <a:p>
            <a:pPr marL="0" indent="0" algn="ctr">
              <a:buNone/>
            </a:pPr>
            <a:endParaRPr lang="en-US" sz="1600" dirty="0"/>
          </a:p>
        </p:txBody>
      </p:sp>
      <p:sp>
        <p:nvSpPr>
          <p:cNvPr id="7" name="Text 5">
            <a:extLst>
              <a:ext uri="{FF2B5EF4-FFF2-40B4-BE49-F238E27FC236}">
                <a16:creationId xmlns:a16="http://schemas.microsoft.com/office/drawing/2014/main" id="{305B5A3D-C800-C476-767C-FDE7640AABF7}"/>
              </a:ext>
            </a:extLst>
          </p:cNvPr>
          <p:cNvSpPr/>
          <p:nvPr/>
        </p:nvSpPr>
        <p:spPr>
          <a:xfrm>
            <a:off x="1005840" y="1005840"/>
            <a:ext cx="7772400" cy="594360"/>
          </a:xfrm>
          <a:prstGeom prst="rect">
            <a:avLst/>
          </a:prstGeom>
          <a:noFill/>
          <a:ln/>
        </p:spPr>
        <p:txBody>
          <a:bodyPr wrap="square" rtlCol="0" anchor="ctr"/>
          <a:lstStyle/>
          <a:p>
            <a:pPr marL="0" indent="0">
              <a:buNone/>
            </a:pPr>
            <a:endParaRPr lang="en-US" sz="1250" dirty="0"/>
          </a:p>
        </p:txBody>
      </p:sp>
      <p:sp>
        <p:nvSpPr>
          <p:cNvPr id="9" name="Text 7">
            <a:extLst>
              <a:ext uri="{FF2B5EF4-FFF2-40B4-BE49-F238E27FC236}">
                <a16:creationId xmlns:a16="http://schemas.microsoft.com/office/drawing/2014/main" id="{099996A7-57BA-B1E9-BE10-13849F84B465}"/>
              </a:ext>
            </a:extLst>
          </p:cNvPr>
          <p:cNvSpPr/>
          <p:nvPr/>
        </p:nvSpPr>
        <p:spPr>
          <a:xfrm>
            <a:off x="365760" y="2029968"/>
            <a:ext cx="548640" cy="411480"/>
          </a:xfrm>
          <a:prstGeom prst="rect">
            <a:avLst/>
          </a:prstGeom>
          <a:noFill/>
          <a:ln/>
        </p:spPr>
        <p:txBody>
          <a:bodyPr wrap="square" lIns="0" tIns="0" rIns="0" bIns="0" rtlCol="0" anchor="ctr"/>
          <a:lstStyle/>
          <a:p>
            <a:pPr marL="0" indent="0" algn="ctr">
              <a:buNone/>
            </a:pPr>
            <a:endParaRPr lang="en-US" sz="1600" dirty="0"/>
          </a:p>
        </p:txBody>
      </p:sp>
      <p:sp>
        <p:nvSpPr>
          <p:cNvPr id="10" name="Text 8">
            <a:extLst>
              <a:ext uri="{FF2B5EF4-FFF2-40B4-BE49-F238E27FC236}">
                <a16:creationId xmlns:a16="http://schemas.microsoft.com/office/drawing/2014/main" id="{5AC1650B-3EA5-0ACB-7B80-1214DA1F226B}"/>
              </a:ext>
            </a:extLst>
          </p:cNvPr>
          <p:cNvSpPr/>
          <p:nvPr/>
        </p:nvSpPr>
        <p:spPr>
          <a:xfrm>
            <a:off x="1005840" y="1965960"/>
            <a:ext cx="7772400" cy="594360"/>
          </a:xfrm>
          <a:prstGeom prst="rect">
            <a:avLst/>
          </a:prstGeom>
          <a:noFill/>
          <a:ln/>
        </p:spPr>
        <p:txBody>
          <a:bodyPr wrap="square" rtlCol="0" anchor="ctr"/>
          <a:lstStyle/>
          <a:p>
            <a:pPr marL="0" indent="0">
              <a:buNone/>
            </a:pPr>
            <a:endParaRPr lang="en-US" sz="1250" dirty="0"/>
          </a:p>
        </p:txBody>
      </p:sp>
      <p:sp>
        <p:nvSpPr>
          <p:cNvPr id="13" name="Text 11">
            <a:extLst>
              <a:ext uri="{FF2B5EF4-FFF2-40B4-BE49-F238E27FC236}">
                <a16:creationId xmlns:a16="http://schemas.microsoft.com/office/drawing/2014/main" id="{74C5F6ED-3853-0C35-4B4F-64A2D589E1D4}"/>
              </a:ext>
            </a:extLst>
          </p:cNvPr>
          <p:cNvSpPr/>
          <p:nvPr/>
        </p:nvSpPr>
        <p:spPr>
          <a:xfrm>
            <a:off x="1005840" y="2926080"/>
            <a:ext cx="7772400" cy="594360"/>
          </a:xfrm>
          <a:prstGeom prst="rect">
            <a:avLst/>
          </a:prstGeom>
          <a:noFill/>
          <a:ln/>
        </p:spPr>
        <p:txBody>
          <a:bodyPr wrap="square" rtlCol="0" anchor="ctr"/>
          <a:lstStyle/>
          <a:p>
            <a:pPr marL="0" indent="0">
              <a:buNone/>
            </a:pPr>
            <a:endParaRPr lang="en-US" sz="1250" dirty="0"/>
          </a:p>
        </p:txBody>
      </p:sp>
      <p:sp>
        <p:nvSpPr>
          <p:cNvPr id="15" name="Text 13">
            <a:extLst>
              <a:ext uri="{FF2B5EF4-FFF2-40B4-BE49-F238E27FC236}">
                <a16:creationId xmlns:a16="http://schemas.microsoft.com/office/drawing/2014/main" id="{058C10E3-67D1-5968-D630-88A8FFF8CDC1}"/>
              </a:ext>
            </a:extLst>
          </p:cNvPr>
          <p:cNvSpPr/>
          <p:nvPr/>
        </p:nvSpPr>
        <p:spPr>
          <a:xfrm>
            <a:off x="365760" y="3950208"/>
            <a:ext cx="548640" cy="411480"/>
          </a:xfrm>
          <a:prstGeom prst="rect">
            <a:avLst/>
          </a:prstGeom>
          <a:noFill/>
          <a:ln/>
        </p:spPr>
        <p:txBody>
          <a:bodyPr wrap="square" lIns="0" tIns="0" rIns="0" bIns="0" rtlCol="0" anchor="ctr"/>
          <a:lstStyle/>
          <a:p>
            <a:pPr marL="0" indent="0" algn="ctr">
              <a:buNone/>
            </a:pPr>
            <a:endParaRPr lang="en-US" sz="1600" dirty="0"/>
          </a:p>
        </p:txBody>
      </p:sp>
      <p:sp>
        <p:nvSpPr>
          <p:cNvPr id="16" name="Text 14">
            <a:extLst>
              <a:ext uri="{FF2B5EF4-FFF2-40B4-BE49-F238E27FC236}">
                <a16:creationId xmlns:a16="http://schemas.microsoft.com/office/drawing/2014/main" id="{C7A7061D-0224-6EB3-52A0-3EE29EFE700F}"/>
              </a:ext>
            </a:extLst>
          </p:cNvPr>
          <p:cNvSpPr/>
          <p:nvPr/>
        </p:nvSpPr>
        <p:spPr>
          <a:xfrm>
            <a:off x="1005840" y="3886200"/>
            <a:ext cx="7772400" cy="594360"/>
          </a:xfrm>
          <a:prstGeom prst="rect">
            <a:avLst/>
          </a:prstGeom>
          <a:noFill/>
          <a:ln/>
        </p:spPr>
        <p:txBody>
          <a:bodyPr wrap="square" rtlCol="0" anchor="ctr"/>
          <a:lstStyle/>
          <a:p>
            <a:pPr marL="0" indent="0">
              <a:buNone/>
            </a:pPr>
            <a:endParaRPr lang="en-US" sz="1250" dirty="0"/>
          </a:p>
        </p:txBody>
      </p:sp>
    </p:spTree>
    <p:extLst>
      <p:ext uri="{BB962C8B-B14F-4D97-AF65-F5344CB8AC3E}">
        <p14:creationId xmlns:p14="http://schemas.microsoft.com/office/powerpoint/2010/main" val="41647943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043562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178</TotalTime>
  <Words>1008</Words>
  <Application>Microsoft Office PowerPoint</Application>
  <PresentationFormat>On-screen Show (16:9)</PresentationFormat>
  <Paragraphs>170</Paragraphs>
  <Slides>18</Slides>
  <Notes>17</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Transcriptome Analysis of Spinal Tuberculosis</dc:title>
  <dc:subject>PptxGenJS Presentation</dc:subject>
  <dc:creator>PptxGenJS</dc:creator>
  <cp:lastModifiedBy>Amira Momtaz Mohamed</cp:lastModifiedBy>
  <cp:revision>6</cp:revision>
  <dcterms:created xsi:type="dcterms:W3CDTF">2026-05-11T03:23:01Z</dcterms:created>
  <dcterms:modified xsi:type="dcterms:W3CDTF">2026-06-05T01:27:51Z</dcterms:modified>
</cp:coreProperties>
</file>